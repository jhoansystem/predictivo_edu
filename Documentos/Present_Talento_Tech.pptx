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16" r:id="rId2"/>
    <p:sldId id="262" r:id="rId3"/>
    <p:sldId id="320" r:id="rId4"/>
    <p:sldId id="321" r:id="rId5"/>
    <p:sldId id="327" r:id="rId6"/>
    <p:sldId id="319" r:id="rId7"/>
    <p:sldId id="318" r:id="rId8"/>
    <p:sldId id="317" r:id="rId9"/>
    <p:sldId id="322" r:id="rId10"/>
    <p:sldId id="323" r:id="rId11"/>
    <p:sldId id="324" r:id="rId12"/>
    <p:sldId id="325" r:id="rId13"/>
    <p:sldId id="326" r:id="rId14"/>
    <p:sldId id="328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57" r:id="rId23"/>
    <p:sldId id="347" r:id="rId24"/>
    <p:sldId id="349" r:id="rId25"/>
    <p:sldId id="350" r:id="rId26"/>
    <p:sldId id="351" r:id="rId27"/>
    <p:sldId id="352" r:id="rId28"/>
    <p:sldId id="353" r:id="rId29"/>
    <p:sldId id="354" r:id="rId30"/>
    <p:sldId id="264" r:id="rId31"/>
    <p:sldId id="370" r:id="rId32"/>
    <p:sldId id="379" r:id="rId33"/>
    <p:sldId id="371" r:id="rId34"/>
    <p:sldId id="359" r:id="rId35"/>
    <p:sldId id="372" r:id="rId36"/>
    <p:sldId id="266" r:id="rId37"/>
  </p:sldIdLst>
  <p:sldSz cx="12192000" cy="6858000"/>
  <p:notesSz cx="6858000" cy="9144000"/>
  <p:custDataLst>
    <p:tags r:id="rId39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92A4F-BE98-4020-BBA0-1CBE48CB0132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72100-2638-4E78-A093-E37AD6E3DCC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754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C5A03F5-4505-6F71-602A-2B5A501B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>
            <a:extLst>
              <a:ext uri="{FF2B5EF4-FFF2-40B4-BE49-F238E27FC236}">
                <a16:creationId xmlns:a16="http://schemas.microsoft.com/office/drawing/2014/main" id="{A2C8AC09-391D-68D5-7827-57B76AAC6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>
            <a:extLst>
              <a:ext uri="{FF2B5EF4-FFF2-40B4-BE49-F238E27FC236}">
                <a16:creationId xmlns:a16="http://schemas.microsoft.com/office/drawing/2014/main" id="{AAB218E2-5AD7-C195-389A-BE7EAA0ED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7790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982624F-8312-EB80-ECE6-94A6B8D9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>
            <a:extLst>
              <a:ext uri="{FF2B5EF4-FFF2-40B4-BE49-F238E27FC236}">
                <a16:creationId xmlns:a16="http://schemas.microsoft.com/office/drawing/2014/main" id="{7674A465-0F66-642D-7973-7007B137D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>
            <a:extLst>
              <a:ext uri="{FF2B5EF4-FFF2-40B4-BE49-F238E27FC236}">
                <a16:creationId xmlns:a16="http://schemas.microsoft.com/office/drawing/2014/main" id="{D3E3B479-EBA2-59AF-AFBF-D4C878A87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6215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9594FE6-29A2-F862-8758-18116B5E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>
            <a:extLst>
              <a:ext uri="{FF2B5EF4-FFF2-40B4-BE49-F238E27FC236}">
                <a16:creationId xmlns:a16="http://schemas.microsoft.com/office/drawing/2014/main" id="{1AAC73A0-E9EE-8461-148D-A529966B4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>
            <a:extLst>
              <a:ext uri="{FF2B5EF4-FFF2-40B4-BE49-F238E27FC236}">
                <a16:creationId xmlns:a16="http://schemas.microsoft.com/office/drawing/2014/main" id="{2757E906-34AA-6A98-B81D-A9FC0714A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1485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22B298B-CAD2-C401-AE72-C94B70AE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>
            <a:extLst>
              <a:ext uri="{FF2B5EF4-FFF2-40B4-BE49-F238E27FC236}">
                <a16:creationId xmlns:a16="http://schemas.microsoft.com/office/drawing/2014/main" id="{2971E26C-A998-FE31-A66F-789E9C77A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>
            <a:extLst>
              <a:ext uri="{FF2B5EF4-FFF2-40B4-BE49-F238E27FC236}">
                <a16:creationId xmlns:a16="http://schemas.microsoft.com/office/drawing/2014/main" id="{4063E326-846A-031E-9E63-DC9DFEB38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6727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9.png"/><Relationship Id="rId4" Type="http://schemas.openxmlformats.org/officeDocument/2006/relationships/hyperlink" Target="https://pandas.pydata.org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20.png"/><Relationship Id="rId4" Type="http://schemas.openxmlformats.org/officeDocument/2006/relationships/hyperlink" Target="https://numpy.org/es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21.png"/><Relationship Id="rId4" Type="http://schemas.openxmlformats.org/officeDocument/2006/relationships/hyperlink" Target="https://scikit-learn.org/stable/index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22.png"/><Relationship Id="rId4" Type="http://schemas.openxmlformats.org/officeDocument/2006/relationships/hyperlink" Target="https://seaborn.pydata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23.png"/><Relationship Id="rId4" Type="http://schemas.openxmlformats.org/officeDocument/2006/relationships/hyperlink" Target="https://matplotlib.or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24.png"/><Relationship Id="rId4" Type="http://schemas.openxmlformats.org/officeDocument/2006/relationships/hyperlink" Target="https://www.tensorflow.org/?hl=es-41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3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CCE5D-B55F-9AED-DADC-103BB5E5180E}"/>
              </a:ext>
            </a:extLst>
          </p:cNvPr>
          <p:cNvSpPr txBox="1"/>
          <p:nvPr/>
        </p:nvSpPr>
        <p:spPr>
          <a:xfrm>
            <a:off x="893435" y="1751366"/>
            <a:ext cx="1045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 DE ALERTA TEMPRANA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64793-6608-8EE6-0E92-288652D6CA7A}"/>
              </a:ext>
            </a:extLst>
          </p:cNvPr>
          <p:cNvSpPr txBox="1"/>
          <p:nvPr/>
        </p:nvSpPr>
        <p:spPr>
          <a:xfrm>
            <a:off x="893435" y="3902842"/>
            <a:ext cx="4416594" cy="13747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s-ES" sz="4600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Machine Learning aplicado a la educación</a:t>
            </a:r>
          </a:p>
          <a:p>
            <a:pPr>
              <a:lnSpc>
                <a:spcPts val="5000"/>
              </a:lnSpc>
            </a:pPr>
            <a:endParaRPr lang="en-US" sz="4600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893435" y="2231829"/>
            <a:ext cx="3072076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ETL • EDA • Modelado Predictivo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520" y="1097280"/>
            <a:ext cx="89408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7880"/>
            <a:ext cx="10728960" cy="29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Histograma con curva KDE del promedio de notas. La concentración principal se ubica entre 3.0 y 4.0 (media ~3.17). Se observa una cola extendida hacia notas bajas, incluyendo valores atípicos por debajo de 1.0.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C7668-0C6D-0D65-BD71-A0EE981F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E81ED17-F8D5-26A5-D90D-B8AC49E0B0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092" y="663078"/>
            <a:ext cx="983439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13678"/>
            <a:ext cx="10728960" cy="727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Boxplot del promedio de notas por año lectivo (2015-2024). Se observan outliers en varios periodos y la evolución de la mediana, con un incremento notable en 2020-2021 durante la pandemia.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54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91CC-B228-C219-53AD-28654938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20ED9B6-FB8E-0C96-598C-C74D0AB161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713" y="848298"/>
            <a:ext cx="8882043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98898"/>
            <a:ext cx="10728960" cy="541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Violin plot que muestra la distribución de notas por grado escolar. Los grados superiores (10°-11°) presentan mayor concentración en notas altas, mientras que 6°-8° tienen distribuciones más amplias.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52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B956-540C-E46E-9815-03262286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ECE8DAC-62FF-EECB-2E3D-50B75DC611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00" y="1017270"/>
            <a:ext cx="908304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67870"/>
            <a:ext cx="10728960" cy="37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Distribución de la variable promovido_bin: 74% de estudiantes promovidos (3,950) vs 26% no promovidos (1,391). Este desbalance de clases es crítico para el modelado predictivo.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945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F692-E140-0298-CD48-3DA684EF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B24BDFB-7AED-24D9-DAC8-D20BAC0CB9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760" y="800100"/>
            <a:ext cx="93472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50700"/>
            <a:ext cx="10728960" cy="59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Proporción de estudiantes promovidos (74%) frente a no promovidos (26%). Se requieren técnicas de balanceo como SMOTE para entrenar modelos de clasificación.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880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7A61-987A-287B-0D2B-EC225796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1AC7734-1196-7EB5-0E0F-B1E7CC760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765810"/>
            <a:ext cx="94691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16410"/>
            <a:ext cx="10728960" cy="6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Distribución de estudiantes por grado (6° a 11°). La población es relativamente uniforme, oscilando entre 800 y 1,000 estudiantes por nivel.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003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88743-CD7C-F4C9-6D20-751DACCC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A94CCFE-FE7E-248E-217C-5F57448880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560" y="1059180"/>
            <a:ext cx="90627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09780"/>
            <a:ext cx="10728960" cy="33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Promedio de notas por grado académico. Los grados 10° (~3.6) y 11° (~3.4) tienen el mejor rendimiento. 6°, 7° y 8° tienen promedios críticos cercanos a 3.0.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830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8C1D-01AE-B829-12F9-22FF8185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B3C962F-B376-2CD0-AD4B-0E527A458F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200" y="1035684"/>
            <a:ext cx="903224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86284"/>
            <a:ext cx="10728960" cy="354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Evolución del promedio de notas (2015-2024). Se observa un incremento notable en 2020-2021, probablemente por flexibilización académica durante la pandemia COVID-19.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738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9D4E-0539-A978-FB54-65F85BD5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5B143F9-4428-7776-1E0A-1C11BAB6D8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240" y="969644"/>
            <a:ext cx="91135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20244"/>
            <a:ext cx="10728960" cy="420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Evolución de la tasa de promoción (2015-2024). Pico en 2020-2021 consistente con el aumento en promedios. Las tasas más bajas se registran en 2015-2016.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986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F3CE6-48B7-9AC6-B1FE-A3FD9933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6C6D36-09EA-0215-396F-6F8E9894BB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10_EstudiantesPorAn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342900"/>
            <a:ext cx="1024128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193500"/>
            <a:ext cx="10728960" cy="104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Estudiantes por año lectivo (2015-2024). Se observa un crecimiento progresivo en la matrícula a lo largo del período.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349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60AE8-8A49-D778-78B2-BD89FBD6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577E6BD-42E6-4FA9-61B0-25B07E64C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11_MatrizDeCorrelacionVariableNumeric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342900"/>
            <a:ext cx="1024128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193500"/>
            <a:ext cx="10728960" cy="104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Matriz de correlación entre variables numéricas (mapa de calor). Los promedios por área del saber (prom_*) están fuertemente correlacionados entre sí y con promedio_nota.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3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FF73-720A-8292-B05A-4CBB6B3A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C46EF51-F1D1-626D-F487-DE5AD21CBC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12_MatrizDeCorrelacionPromedioNotasTarg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342900"/>
            <a:ext cx="10241280" cy="4800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193500"/>
            <a:ext cx="10728960" cy="104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Correlaciones con la variable target (promedio_nota). materias_perdidas (-0.91) es el predictor más fuerte, seguido de nota_minima (0.78), porc_inasistencia (-0.36) y nota_std (-0.63).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2994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2C4C-2645-1A33-03A4-51208DDB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583EFD6-803F-F4D2-1D42-A46AFFAD2D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357" y="1586428"/>
            <a:ext cx="7954178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40780"/>
            <a:ext cx="1072896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Relación entre intensidad horaria y promedio de notas. Se analiza si una mayor carga académica se traduce en mejor rendimiento.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1294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2ED1-6034-299D-5ED5-4BC1C6D4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124F38-BB19-1B5A-331A-BFB14CFA4B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240" y="794385"/>
            <a:ext cx="93675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44985"/>
            <a:ext cx="10728960" cy="59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Promedio de notas por área del saber. Ética/Filosofía/Religión (3.33) y Técnica/Tecnología (3.30) tienen mejores promedios. Matemáticas (3.01) y Humanidades (3.04) son las más críticas.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853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D371-D062-22F7-FD9C-938A2EDF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598B37F-72C1-2AC5-63C1-526CC9FBE6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hlinkClick r:id="rId4"/>
            <a:extLst>
              <a:ext uri="{FF2B5EF4-FFF2-40B4-BE49-F238E27FC236}">
                <a16:creationId xmlns:a16="http://schemas.microsoft.com/office/drawing/2014/main" id="{54FFE0FB-88F4-89F2-BCD1-72FB967ADE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630"/>
          <a:stretch>
            <a:fillRect/>
          </a:stretch>
        </p:blipFill>
        <p:spPr>
          <a:xfrm>
            <a:off x="1751683" y="991518"/>
            <a:ext cx="9499158" cy="49355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77075"/>
            <a:ext cx="10728960" cy="263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Continuación del análisis exploratorio de datos. Se examinan distribuciones complementarias del rendimiento estudiantil.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7164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8D3B-117E-F27C-4927-E930CDA8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7787D6D-702D-9F66-F35B-3DAD059F16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hlinkClick r:id="rId4"/>
            <a:extLst>
              <a:ext uri="{FF2B5EF4-FFF2-40B4-BE49-F238E27FC236}">
                <a16:creationId xmlns:a16="http://schemas.microsoft.com/office/drawing/2014/main" id="{E657C488-EBD4-1DD6-3B09-8D072DB3FB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0362"/>
          <a:stretch>
            <a:fillRect/>
          </a:stretch>
        </p:blipFill>
        <p:spPr>
          <a:xfrm>
            <a:off x="1092474" y="906138"/>
            <a:ext cx="10007051" cy="5045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01862"/>
            <a:ext cx="10728960" cy="238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Visualizaciones complementarias del rendimiento estudiantil. Patrones adicionales detectados durante la exploración de datos.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1025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3251-9CD5-D2B1-692F-ACE11E9F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E06C371-F9A1-55A7-CF94-87FCD606B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hlinkClick r:id="rId4"/>
            <a:extLst>
              <a:ext uri="{FF2B5EF4-FFF2-40B4-BE49-F238E27FC236}">
                <a16:creationId xmlns:a16="http://schemas.microsoft.com/office/drawing/2014/main" id="{39BD2682-75C1-034A-B5F4-0ABB9EAD78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076"/>
          <a:stretch>
            <a:fillRect/>
          </a:stretch>
        </p:blipFill>
        <p:spPr>
          <a:xfrm>
            <a:off x="1619479" y="860593"/>
            <a:ext cx="10043711" cy="5136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40780"/>
            <a:ext cx="107289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Distribuciones detalladas de las variables académicas más relevantes para el análisis.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9146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D5AC-B3D0-7CBE-100A-CB6826D8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97E8FB8-6F67-3D92-5780-23B70CF299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hlinkClick r:id="rId4"/>
            <a:extLst>
              <a:ext uri="{FF2B5EF4-FFF2-40B4-BE49-F238E27FC236}">
                <a16:creationId xmlns:a16="http://schemas.microsoft.com/office/drawing/2014/main" id="{DF69804A-505B-0C4C-8CF2-2339E96C52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738"/>
          <a:stretch>
            <a:fillRect/>
          </a:stretch>
        </p:blipFill>
        <p:spPr>
          <a:xfrm>
            <a:off x="1493608" y="950205"/>
            <a:ext cx="9552638" cy="49575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57795"/>
            <a:ext cx="10728960" cy="28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Análisis de correlaciones y relaciones entre múltiples dimensiones del rendimiento académico.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0732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B214-48F8-6A2A-53E3-319527E8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1CD6AEB-EE0B-D9D1-4C6A-1EF2F5A43C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hlinkClick r:id="rId4"/>
            <a:extLst>
              <a:ext uri="{FF2B5EF4-FFF2-40B4-BE49-F238E27FC236}">
                <a16:creationId xmlns:a16="http://schemas.microsoft.com/office/drawing/2014/main" id="{9FFF0846-C55B-86D2-29BC-3D8C56007E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640"/>
          <a:stretch>
            <a:fillRect/>
          </a:stretch>
        </p:blipFill>
        <p:spPr>
          <a:xfrm>
            <a:off x="1656564" y="903383"/>
            <a:ext cx="9224429" cy="47923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745720"/>
            <a:ext cx="10728960" cy="495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Exploración de patrones temporales y estructurales en los datos educativos.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91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4193-2603-4AA8-6AE5-A4C99B40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54F10F5-2E34-AB3F-BFC7-14708998EB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hlinkClick r:id="rId4"/>
            <a:extLst>
              <a:ext uri="{FF2B5EF4-FFF2-40B4-BE49-F238E27FC236}">
                <a16:creationId xmlns:a16="http://schemas.microsoft.com/office/drawing/2014/main" id="{E9D4FB4D-2674-49A8-FFA5-6EF2780462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525"/>
          <a:stretch>
            <a:fillRect/>
          </a:stretch>
        </p:blipFill>
        <p:spPr>
          <a:xfrm>
            <a:off x="1635760" y="1345565"/>
            <a:ext cx="8463280" cy="4211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07521"/>
            <a:ext cx="10728960" cy="63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Transición hacia el modelado predictivo. Los hallazgos del EDA guían la selección de características.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97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7157-21E9-64EF-721B-51135D8B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63E9BCBD-2031-745F-3FC3-8D49420B57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96C4F0-18B3-E269-6962-7E2C08CFC21E}"/>
              </a:ext>
            </a:extLst>
          </p:cNvPr>
          <p:cNvSpPr txBox="1"/>
          <p:nvPr/>
        </p:nvSpPr>
        <p:spPr>
          <a:xfrm>
            <a:off x="893435" y="1751366"/>
            <a:ext cx="1045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78BFF-9182-F25E-2170-57289FBAEF3A}"/>
              </a:ext>
            </a:extLst>
          </p:cNvPr>
          <p:cNvSpPr txBox="1"/>
          <p:nvPr/>
        </p:nvSpPr>
        <p:spPr>
          <a:xfrm>
            <a:off x="893435" y="3902842"/>
            <a:ext cx="5203669" cy="73353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es-ES" sz="4600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Modelos Supervisados</a:t>
            </a:r>
            <a:endParaRPr lang="en-US" sz="4600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C98BB95-DBFF-F0BE-95FA-4910AA414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27375F-7661-E1D3-C252-8E147400DAAE}"/>
              </a:ext>
            </a:extLst>
          </p:cNvPr>
          <p:cNvSpPr txBox="1"/>
          <p:nvPr/>
        </p:nvSpPr>
        <p:spPr>
          <a:xfrm>
            <a:off x="893435" y="2231829"/>
            <a:ext cx="3072076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t>Regresión Lineal • Logística • Árbol de Decisión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8781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6C2C-84E4-1EF3-E819-F13333D2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8B474F8-BBF0-A677-3385-945161C93B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694372"/>
            <a:ext cx="97231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44972"/>
            <a:ext cx="10728960" cy="69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Notas reales vs predichas con Regresión Lineal. R² = 0.9996 indica que el modelo explica el 99.96% de la variabilidad del promedio de notas.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7249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A837-24EC-C99D-3244-3D6CB606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7488352-196B-873C-05D1-88AA746CEF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901699"/>
            <a:ext cx="93065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52299"/>
            <a:ext cx="10728960" cy="48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Matriz de Confusión de la Regresión Logística: 1,448 VP, 585 VN, 35 FP, 49 FN. Accuracy = 96.91%, Recall = 97.60%, Precision = 97.64%.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6321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0528-3F50-2D53-E588-F257DCF4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353F4FB-B35A-F4AA-02CD-10B555F489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840" y="791527"/>
            <a:ext cx="937768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42127"/>
            <a:ext cx="10728960" cy="59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Curva ROC de la Regresión Logística con AUC = 0.9890. Capacidad excelente para distinguir entre estudiantes promovidos y no promovidos.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7559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D13B-8D0B-484A-C391-2C2E1FB5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74291CE-BE16-40DD-A1E5-4431EDC781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20" y="780097"/>
            <a:ext cx="94183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30697"/>
            <a:ext cx="10728960" cy="610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Importancia de características en el Árbol de Decisión. Las variables más influyentes: materias_perdidas, promedio_nota, nota_minima, nota_std y porc_inasistencia.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8350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0676-0C94-0C31-D0AD-7F76363B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3AFE8B2-34C8-3278-E915-30F0CBFD20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360" y="734377"/>
            <a:ext cx="958088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84977"/>
            <a:ext cx="10728960" cy="655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Distribución de estudiantes por cohorte académica. Permite comparar el tamaño y composición de cada generación de estudiantes.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0884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9AAF-6549-44B4-CA4C-C5CD74F1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2D41D1E-EC61-C09C-BA49-995E8FD635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1120140"/>
            <a:ext cx="89001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70740"/>
            <a:ext cx="10728960" cy="27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Promedio de notas por cohorte académica. Comparativa del rendimiento promedio entre diferentes generaciones de estudiantes.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452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297E-7F3C-0125-E67A-1784E3DC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E9452C9-0B8B-C636-59A8-EC3ECBAC7D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0" y="1234893"/>
            <a:ext cx="5276259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40780"/>
            <a:ext cx="107289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Tasa de promoción por cohorte académica. Mide el porcentaje de estudiantes promovidos en cada generación.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045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lang="es-CO"/>
          </a:p>
        </p:txBody>
      </p:sp>
      <p:sp>
        <p:nvSpPr>
          <p:cNvPr id="158" name="Google Shape;158;p9"/>
          <p:cNvSpPr txBox="1">
            <a:spLocks noGrp="1"/>
          </p:cNvSpPr>
          <p:nvPr>
            <p:ph type="subTitle" idx="1"/>
          </p:nvPr>
        </p:nvSpPr>
        <p:spPr>
          <a:xfrm>
            <a:off x="1251286" y="324911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s-CO"/>
          </a:p>
        </p:txBody>
      </p:sp>
      <p:sp>
        <p:nvSpPr>
          <p:cNvPr id="161" name="Google Shape;161;p9"/>
          <p:cNvSpPr/>
          <p:nvPr/>
        </p:nvSpPr>
        <p:spPr>
          <a:xfrm>
            <a:off x="1251286" y="2808900"/>
            <a:ext cx="9816050" cy="139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endParaRPr sz="175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Google Shape;160;p9"/>
          <p:cNvSpPr/>
          <p:nvPr/>
        </p:nvSpPr>
        <p:spPr>
          <a:xfrm>
            <a:off x="1524000" y="-75295"/>
            <a:ext cx="861071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lang="es-MX" sz="4450" b="1" dirty="0">
                <a:solidFill>
                  <a:schemeClr val="bg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Resultados: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Picture 16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290"/>
            <a:ext cx="12192000" cy="48006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31520" y="4829310"/>
            <a:ext cx="10728960" cy="141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Estudiantes por cohorte de 3 años. Agrupación de generaciones para analizar tendencias demográficas a mediano plazo.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E151240-5D17-65B4-D21F-AAC2760A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>
            <a:extLst>
              <a:ext uri="{FF2B5EF4-FFF2-40B4-BE49-F238E27FC236}">
                <a16:creationId xmlns:a16="http://schemas.microsoft.com/office/drawing/2014/main" id="{8C213CDC-097D-E186-5DB7-2FFE6E43FA0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lang="es-CO"/>
          </a:p>
        </p:txBody>
      </p:sp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C5E9497B-15CA-7B11-D907-252D2C1BBC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1286" y="324911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s-CO"/>
          </a:p>
        </p:txBody>
      </p:sp>
      <p:sp>
        <p:nvSpPr>
          <p:cNvPr id="161" name="Google Shape;161;p9">
            <a:extLst>
              <a:ext uri="{FF2B5EF4-FFF2-40B4-BE49-F238E27FC236}">
                <a16:creationId xmlns:a16="http://schemas.microsoft.com/office/drawing/2014/main" id="{BBE48912-AED8-770E-A45C-8F3556833576}"/>
              </a:ext>
            </a:extLst>
          </p:cNvPr>
          <p:cNvSpPr/>
          <p:nvPr/>
        </p:nvSpPr>
        <p:spPr>
          <a:xfrm>
            <a:off x="1251286" y="2808900"/>
            <a:ext cx="9816050" cy="139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endParaRPr sz="175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Google Shape;160;p9">
            <a:extLst>
              <a:ext uri="{FF2B5EF4-FFF2-40B4-BE49-F238E27FC236}">
                <a16:creationId xmlns:a16="http://schemas.microsoft.com/office/drawing/2014/main" id="{2B0B127F-6438-E2B1-5BE7-C1639B96B658}"/>
              </a:ext>
            </a:extLst>
          </p:cNvPr>
          <p:cNvSpPr/>
          <p:nvPr/>
        </p:nvSpPr>
        <p:spPr>
          <a:xfrm>
            <a:off x="1524000" y="-75295"/>
            <a:ext cx="861071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lang="es-MX" sz="4450" b="1" dirty="0">
                <a:solidFill>
                  <a:schemeClr val="bg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Resultados: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Picture 16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290"/>
            <a:ext cx="12192000" cy="48006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31520" y="4829310"/>
            <a:ext cx="10728960" cy="141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Promedio de notas por cohorte de 3 años. Evolución del rendimiento académico en periodos trianuales.</a:t>
            </a:r>
          </a:p>
        </p:txBody>
      </p:sp>
    </p:spTree>
    <p:extLst>
      <p:ext uri="{BB962C8B-B14F-4D97-AF65-F5344CB8AC3E}">
        <p14:creationId xmlns:p14="http://schemas.microsoft.com/office/powerpoint/2010/main" val="3891226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E921-DC2A-3871-CEE2-332EA70A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779A7A4-24BB-5F6B-1DB0-27BC377941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20" y="780097"/>
            <a:ext cx="94183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30697"/>
            <a:ext cx="10728960" cy="610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Tasa de promoción por cohorte de 3 años. Tendencias de aprobación en periodos trianuales.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408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7C3E811-4BAA-8D87-8E44-CBF1D2DD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>
            <a:extLst>
              <a:ext uri="{FF2B5EF4-FFF2-40B4-BE49-F238E27FC236}">
                <a16:creationId xmlns:a16="http://schemas.microsoft.com/office/drawing/2014/main" id="{C11473C1-F92E-9547-F307-02D5A6E2133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lang="es-CO"/>
          </a:p>
        </p:txBody>
      </p:sp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16EDA883-5029-A111-A646-D50B3AF030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1286" y="324911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s-CO"/>
          </a:p>
        </p:txBody>
      </p:sp>
      <p:sp>
        <p:nvSpPr>
          <p:cNvPr id="161" name="Google Shape;161;p9">
            <a:extLst>
              <a:ext uri="{FF2B5EF4-FFF2-40B4-BE49-F238E27FC236}">
                <a16:creationId xmlns:a16="http://schemas.microsoft.com/office/drawing/2014/main" id="{0075A3B4-3D24-D0E6-2051-9E9F24B2C491}"/>
              </a:ext>
            </a:extLst>
          </p:cNvPr>
          <p:cNvSpPr/>
          <p:nvPr/>
        </p:nvSpPr>
        <p:spPr>
          <a:xfrm>
            <a:off x="1251286" y="2808900"/>
            <a:ext cx="9816050" cy="139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endParaRPr sz="175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Google Shape;160;p9">
            <a:extLst>
              <a:ext uri="{FF2B5EF4-FFF2-40B4-BE49-F238E27FC236}">
                <a16:creationId xmlns:a16="http://schemas.microsoft.com/office/drawing/2014/main" id="{06EFF6DE-BFF4-7D43-4354-2E586C48EBD1}"/>
              </a:ext>
            </a:extLst>
          </p:cNvPr>
          <p:cNvSpPr/>
          <p:nvPr/>
        </p:nvSpPr>
        <p:spPr>
          <a:xfrm>
            <a:off x="1524000" y="-75295"/>
            <a:ext cx="861071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lang="es-MX" sz="4450" b="1" dirty="0">
                <a:solidFill>
                  <a:schemeClr val="bg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Resultados: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290"/>
            <a:ext cx="12192000" cy="48006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31520" y="4829310"/>
            <a:ext cx="10728960" cy="141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Evolución del promedio de notas por grado académico (2015-2024). Tendencias diferenciadas por nivel escolar.</a:t>
            </a:r>
          </a:p>
        </p:txBody>
      </p:sp>
    </p:spTree>
    <p:extLst>
      <p:ext uri="{BB962C8B-B14F-4D97-AF65-F5344CB8AC3E}">
        <p14:creationId xmlns:p14="http://schemas.microsoft.com/office/powerpoint/2010/main" val="2906549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8B72151C-736F-C5A4-23D2-FD3ADCDF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>
            <a:extLst>
              <a:ext uri="{FF2B5EF4-FFF2-40B4-BE49-F238E27FC236}">
                <a16:creationId xmlns:a16="http://schemas.microsoft.com/office/drawing/2014/main" id="{328ED1B9-3E65-E8C2-4AA0-5696E12758A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lang="es-CO"/>
          </a:p>
        </p:txBody>
      </p:sp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4C99EBA9-0C04-07AC-EE92-53B8D21885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1286" y="324911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s-CO"/>
          </a:p>
        </p:txBody>
      </p:sp>
      <p:sp>
        <p:nvSpPr>
          <p:cNvPr id="161" name="Google Shape;161;p9">
            <a:extLst>
              <a:ext uri="{FF2B5EF4-FFF2-40B4-BE49-F238E27FC236}">
                <a16:creationId xmlns:a16="http://schemas.microsoft.com/office/drawing/2014/main" id="{552B311A-8493-6137-D833-C721BBC12B27}"/>
              </a:ext>
            </a:extLst>
          </p:cNvPr>
          <p:cNvSpPr/>
          <p:nvPr/>
        </p:nvSpPr>
        <p:spPr>
          <a:xfrm>
            <a:off x="1251286" y="2808900"/>
            <a:ext cx="9816050" cy="139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endParaRPr sz="175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Google Shape;160;p9">
            <a:extLst>
              <a:ext uri="{FF2B5EF4-FFF2-40B4-BE49-F238E27FC236}">
                <a16:creationId xmlns:a16="http://schemas.microsoft.com/office/drawing/2014/main" id="{8EEBDE8D-EDCF-4547-A121-E0A1594164D3}"/>
              </a:ext>
            </a:extLst>
          </p:cNvPr>
          <p:cNvSpPr/>
          <p:nvPr/>
        </p:nvSpPr>
        <p:spPr>
          <a:xfrm>
            <a:off x="1524000" y="-75295"/>
            <a:ext cx="861071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lang="es-MX" sz="4450" b="1" dirty="0">
                <a:solidFill>
                  <a:schemeClr val="bg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Resultados: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Picture 16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290"/>
            <a:ext cx="12192000" cy="48006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31520" y="4829310"/>
            <a:ext cx="10728960" cy="141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Distribución de notas para estudiantes promovidos. Mayor concentración entre 3.0 y 4.5.</a:t>
            </a:r>
          </a:p>
        </p:txBody>
      </p:sp>
    </p:spTree>
    <p:extLst>
      <p:ext uri="{BB962C8B-B14F-4D97-AF65-F5344CB8AC3E}">
        <p14:creationId xmlns:p14="http://schemas.microsoft.com/office/powerpoint/2010/main" val="2999798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B85AB8B2-9BB7-B325-D557-50F654FD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>
            <a:extLst>
              <a:ext uri="{FF2B5EF4-FFF2-40B4-BE49-F238E27FC236}">
                <a16:creationId xmlns:a16="http://schemas.microsoft.com/office/drawing/2014/main" id="{25DFEB34-7A0A-90AC-2000-7DD45C7DF65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lang="es-CO"/>
          </a:p>
        </p:txBody>
      </p:sp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733F3F5C-4508-B181-E69D-61AC7C8E8A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1286" y="324911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s-CO"/>
          </a:p>
        </p:txBody>
      </p:sp>
      <p:sp>
        <p:nvSpPr>
          <p:cNvPr id="161" name="Google Shape;161;p9">
            <a:extLst>
              <a:ext uri="{FF2B5EF4-FFF2-40B4-BE49-F238E27FC236}">
                <a16:creationId xmlns:a16="http://schemas.microsoft.com/office/drawing/2014/main" id="{A3E02D21-21CE-7899-9AE0-E0F967E9E412}"/>
              </a:ext>
            </a:extLst>
          </p:cNvPr>
          <p:cNvSpPr/>
          <p:nvPr/>
        </p:nvSpPr>
        <p:spPr>
          <a:xfrm>
            <a:off x="1251286" y="2808900"/>
            <a:ext cx="9816050" cy="139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endParaRPr sz="1750">
              <a:solidFill>
                <a:srgbClr val="2A274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Google Shape;160;p9">
            <a:extLst>
              <a:ext uri="{FF2B5EF4-FFF2-40B4-BE49-F238E27FC236}">
                <a16:creationId xmlns:a16="http://schemas.microsoft.com/office/drawing/2014/main" id="{555E52E4-D17C-66E5-B59B-12790D5A29C9}"/>
              </a:ext>
            </a:extLst>
          </p:cNvPr>
          <p:cNvSpPr/>
          <p:nvPr/>
        </p:nvSpPr>
        <p:spPr>
          <a:xfrm>
            <a:off x="1524000" y="-75295"/>
            <a:ext cx="861071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4450"/>
              <a:buFont typeface="Outfit ExtraBold"/>
              <a:buNone/>
            </a:pPr>
            <a:r>
              <a:rPr lang="es-MX" sz="4450" b="1" dirty="0">
                <a:solidFill>
                  <a:schemeClr val="bg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Resultados: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1" dirty="0">
              <a:solidFill>
                <a:srgbClr val="23197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Picture 16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290"/>
            <a:ext cx="12192000" cy="48006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31520" y="4829310"/>
            <a:ext cx="10728960" cy="141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Distribución de notas para estudiantes NO promovidos. La mayoría se concentra por debajo de 3.0, con cola hacia notas muy bajas.</a:t>
            </a:r>
          </a:p>
        </p:txBody>
      </p:sp>
    </p:spTree>
    <p:extLst>
      <p:ext uri="{BB962C8B-B14F-4D97-AF65-F5344CB8AC3E}">
        <p14:creationId xmlns:p14="http://schemas.microsoft.com/office/powerpoint/2010/main" val="2465024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 txBox="1">
            <a:spLocks noGrp="1"/>
          </p:cNvSpPr>
          <p:nvPr>
            <p:ph type="ctrTitle"/>
          </p:nvPr>
        </p:nvSpPr>
        <p:spPr>
          <a:xfrm>
            <a:off x="1235527" y="1470706"/>
            <a:ext cx="972094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 Black"/>
              <a:buNone/>
            </a:pPr>
            <a:r>
              <a:rPr lang="es-MX" sz="9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¡GRACIAS!</a:t>
            </a:r>
            <a:endParaRPr sz="9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8BFCE5-44F5-6695-8F2A-50AAA1124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290"/>
            <a:ext cx="12192000" cy="138738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6E4577-2233-24CD-70FA-3A9C7A69F4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1611"/>
          <a:stretch>
            <a:fillRect/>
          </a:stretch>
        </p:blipFill>
        <p:spPr>
          <a:xfrm>
            <a:off x="7798106" y="5470617"/>
            <a:ext cx="3659436" cy="138738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10198</TotalTime>
  <Words>846</Words>
  <Application>Microsoft Office PowerPoint</Application>
  <PresentationFormat>Panorámica</PresentationFormat>
  <Paragraphs>50</Paragraphs>
  <Slides>36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6" baseType="lpstr">
      <vt:lpstr>Aptos</vt:lpstr>
      <vt:lpstr>Arial</vt:lpstr>
      <vt:lpstr>Arial Black</vt:lpstr>
      <vt:lpstr>Arimo</vt:lpstr>
      <vt:lpstr>Calibri</vt:lpstr>
      <vt:lpstr>Calibri Light</vt:lpstr>
      <vt:lpstr>Outfit ExtraBold</vt:lpstr>
      <vt:lpstr>Roboto</vt:lpstr>
      <vt:lpstr>Roboto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jhoan escobar</cp:lastModifiedBy>
  <cp:revision>46</cp:revision>
  <dcterms:created xsi:type="dcterms:W3CDTF">2024-01-29T20:34:43Z</dcterms:created>
  <dcterms:modified xsi:type="dcterms:W3CDTF">2026-06-04T02:18:36Z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</Properties>
</file>