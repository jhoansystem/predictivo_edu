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ns3="http://customooxmlschemas.google.com/" xmlns:p="http://schemas.openxmlformats.org/presentationml/2006/main" xmlns:r="http://schemas.openxmlformats.org/officeDocument/2006/relationships"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65" r:id="rId14"/>
    <p:sldId id="266" r:id="rId15"/>
    <p:sldId id="267" r:id="rId16"/>
    <p:sldId id="268" r:id="rId17"/>
    <p:sldId id="269" r:id="rId18"/>
  </p:sldIdLst>
  <p:sldSz cy="6858000" cx="12192000"/>
  <p:notesSz cx="6858000" cy="9144000"/>
  <p:embeddedFontLst>
    <p:embeddedFont>
      <p:font typeface="Roboto Black"/>
      <p:bold r:id="rId19"/>
      <p:boldItalic r:id="rId20"/>
    </p:embeddedFon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ns3:slidesCustomData r:id="rId25" roundtripDataSignature="AMtx7mgZ++H2PUVGlj3nwJtc43Y0TBEK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38.xml"/><Relationship Id="rId15" Type="http://schemas.openxmlformats.org/officeDocument/2006/relationships/slide" Target="slides/slide39.xml"/><Relationship Id="rId16" Type="http://schemas.openxmlformats.org/officeDocument/2006/relationships/slide" Target="slides/slide40.xml"/><Relationship Id="rId17" Type="http://schemas.openxmlformats.org/officeDocument/2006/relationships/slide" Target="slides/slide41.xml"/><Relationship Id="rId18" Type="http://schemas.openxmlformats.org/officeDocument/2006/relationships/slide" Target="slides/slide42.xml"/><Relationship Id="rId19" Type="http://schemas.openxmlformats.org/officeDocument/2006/relationships/font" Target="fonts/RobotoBlack-bold.fntdata"/><Relationship Id="rId20" Type="http://schemas.openxmlformats.org/officeDocument/2006/relationships/font" Target="fonts/RobotoBlack-boldItalic.fntdata"/><Relationship Id="rId21" Type="http://schemas.openxmlformats.org/officeDocument/2006/relationships/font" Target="fonts/Roboto-regular.fntdata"/><Relationship Id="rId22" Type="http://schemas.openxmlformats.org/officeDocument/2006/relationships/font" Target="fonts/Roboto-bold.fntdata"/><Relationship Id="rId23" Type="http://schemas.openxmlformats.org/officeDocument/2006/relationships/font" Target="fonts/Roboto-italic.fntdata"/><Relationship Id="rId24" Type="http://schemas.openxmlformats.org/officeDocument/2006/relationships/font" Target="fonts/Roboto-boldItalic.fntdata"/><Relationship Id="rId25" Type="http://customschemas.google.com/relationships/presentationmetadata" Target="metadata"/><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772168264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g3772168264c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77293ec702_1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377293ec702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1" name="Shape 11"/>
        <p:cNvGrpSpPr/>
        <p:nvPr/>
      </p:nvGrpSpPr>
      <p:grpSpPr>
        <a:xfrm>
          <a:off x="0" y="0"/>
          <a:ext cx="0" cy="0"/>
          <a:chOff x="0" y="0"/>
          <a:chExt cx="0" cy="0"/>
        </a:xfrm>
      </p:grpSpPr>
      <p:sp>
        <p:nvSpPr>
          <p:cNvPr id="12" name="Google Shape;1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7" name="Shape 17"/>
        <p:cNvGrpSpPr/>
        <p:nvPr/>
      </p:nvGrpSpPr>
      <p:grpSpPr>
        <a:xfrm>
          <a:off x="0" y="0"/>
          <a:ext cx="0" cy="0"/>
          <a:chOff x="0" y="0"/>
          <a:chExt cx="0" cy="0"/>
        </a:xfrm>
      </p:grpSpPr>
      <p:sp>
        <p:nvSpPr>
          <p:cNvPr id="18" name="Google Shape;18;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5183188" y="987425"/>
            <a:ext cx="6172200" cy="4873625"/>
          </a:xfrm>
          <a:prstGeom prst="rect">
            <a:avLst/>
          </a:prstGeom>
          <a:noFill/>
          <a:ln>
            <a:noFill/>
          </a:ln>
        </p:spPr>
      </p:sp>
      <p:sp>
        <p:nvSpPr>
          <p:cNvPr id="64" name="Google Shape;6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hyperlink" Target="https://lookerstudio.google.com/reporting/eba5cfe8-bc68-48a1-a32a-b02a5785c948"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1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2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2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2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2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2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2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2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2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3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3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3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3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3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3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3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3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3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3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4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jpg"/><Relationship Id="rId4" Type="http://schemas.openxmlformats.org/officeDocument/2006/relationships/image" Target="../media/image4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hyperlink" Target="https://colab.research.google.com/drive/1y9LOTA04ez8OwDqxmecfvJM7TcVkldcn?usp=sharin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A group of women looking at a computer&#10;&#10;Description automatically generated" id="84" name="Google Shape;84;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85" name="Google Shape;85;p1"/>
          <p:cNvPicPr preferRelativeResize="0"/>
          <p:nvPr/>
        </p:nvPicPr>
        <p:blipFill rotWithShape="1">
          <a:blip r:embed="rId4">
            <a:alphaModFix/>
          </a:blip>
          <a:srcRect b="0" l="0" r="0" t="0"/>
          <a:stretch/>
        </p:blipFill>
        <p:spPr>
          <a:xfrm>
            <a:off x="924835" y="4064710"/>
            <a:ext cx="2715709" cy="45719"/>
          </a:xfrm>
          <a:prstGeom prst="rect">
            <a:avLst/>
          </a:prstGeom>
          <a:noFill/>
          <a:ln>
            <a:noFill/>
          </a:ln>
        </p:spPr>
      </p:pic>
      <p:sp>
        <p:nvSpPr>
          <p:cNvPr id="86" name="Google Shape;86;p1"/>
          <p:cNvSpPr txBox="1"/>
          <p:nvPr/>
        </p:nvSpPr>
        <p:spPr>
          <a:xfrm>
            <a:off x="851525" y="1366725"/>
            <a:ext cx="5968500" cy="2544000"/>
          </a:xfrm>
          <a:prstGeom prst="rect">
            <a:avLst/>
          </a:prstGeom>
          <a:noFill/>
          <a:ln>
            <a:noFill/>
          </a:ln>
        </p:spPr>
        <p:txBody>
          <a:bodyPr anchorCtr="0" anchor="t" bIns="45700" lIns="91425" spcFirstLastPara="1" rIns="91425" wrap="square" tIns="45700">
            <a:spAutoFit/>
          </a:bodyPr>
          <a:lstStyle/>
          <a:p>
            <a:pPr indent="0" lvl="0" marL="0" rtl="0" algn="just">
              <a:lnSpc>
                <a:spcPct val="135714"/>
              </a:lnSpc>
              <a:spcBef>
                <a:spcPts val="0"/>
              </a:spcBef>
              <a:spcAft>
                <a:spcPts val="0"/>
              </a:spcAft>
              <a:buClr>
                <a:schemeClr val="dk1"/>
              </a:buClr>
              <a:buSzPts val="1100"/>
              <a:buFont typeface="Arial"/>
              <a:buNone/>
            </a:pPr>
            <a:r>
              <a:rPr b="1" lang="es-MX" sz="2400">
                <a:solidFill>
                  <a:schemeClr val="lt1"/>
                </a:solidFill>
                <a:latin typeface="Roboto"/>
                <a:ea typeface="Roboto"/>
                <a:cs typeface="Roboto"/>
                <a:sym typeface="Roboto"/>
              </a:rPr>
              <a:t>Sistema de Alerta Temprana Académica basado en Machine Learning, aplicando la normativa del sistema educativo colombiano respecto al SIEE. </a:t>
            </a:r>
            <a:endParaRPr b="1" sz="2400">
              <a:solidFill>
                <a:schemeClr val="lt1"/>
              </a:solidFill>
              <a:latin typeface="Roboto"/>
              <a:ea typeface="Roboto"/>
              <a:cs typeface="Roboto"/>
              <a:sym typeface="Roboto"/>
            </a:endParaRPr>
          </a:p>
          <a:p>
            <a:pPr indent="0" lvl="0" marL="0" marR="0" rtl="0" algn="just">
              <a:lnSpc>
                <a:spcPct val="100000"/>
              </a:lnSpc>
              <a:spcBef>
                <a:spcPts val="0"/>
              </a:spcBef>
              <a:spcAft>
                <a:spcPts val="0"/>
              </a:spcAft>
              <a:buClr>
                <a:schemeClr val="dk1"/>
              </a:buClr>
              <a:buSzPts val="2800"/>
              <a:buFont typeface="Arial"/>
              <a:buNone/>
            </a:pPr>
            <a:r>
              <a:t/>
            </a:r>
            <a:endParaRPr b="1" sz="2900">
              <a:solidFill>
                <a:schemeClr val="lt1"/>
              </a:solidFill>
              <a:latin typeface="Roboto Black"/>
              <a:ea typeface="Roboto Black"/>
              <a:cs typeface="Roboto Black"/>
              <a:sym typeface="Roboto Black"/>
            </a:endParaRPr>
          </a:p>
        </p:txBody>
      </p:sp>
      <p:sp>
        <p:nvSpPr>
          <p:cNvPr id="87" name="Google Shape;87;p1"/>
          <p:cNvSpPr txBox="1"/>
          <p:nvPr/>
        </p:nvSpPr>
        <p:spPr>
          <a:xfrm>
            <a:off x="1019050" y="4281250"/>
            <a:ext cx="4018800" cy="78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lang="es-MX" sz="1500">
                <a:solidFill>
                  <a:srgbClr val="FFFFFF"/>
                </a:solidFill>
                <a:latin typeface="Roboto"/>
                <a:ea typeface="Roboto"/>
                <a:cs typeface="Roboto"/>
                <a:sym typeface="Roboto"/>
              </a:rPr>
              <a:t>JHOAN FERNANDO ESCOBAR</a:t>
            </a:r>
            <a:endParaRPr b="0" i="0" sz="1500" u="none" cap="none" strike="noStrike">
              <a:solidFill>
                <a:srgbClr val="FFFFFF"/>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lang="es-MX" sz="1500">
                <a:solidFill>
                  <a:srgbClr val="FFFFFF"/>
                </a:solidFill>
                <a:latin typeface="Roboto"/>
                <a:ea typeface="Roboto"/>
                <a:cs typeface="Roboto"/>
                <a:sym typeface="Roboto"/>
              </a:rPr>
              <a:t>MAURICIO BAENA GIRALDO</a:t>
            </a:r>
            <a:endParaRPr sz="1500">
              <a:solidFill>
                <a:srgbClr val="FFFFFF"/>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lang="es-MX" sz="1500">
                <a:solidFill>
                  <a:srgbClr val="FFFFFF"/>
                </a:solidFill>
                <a:latin typeface="Roboto"/>
                <a:ea typeface="Roboto"/>
                <a:cs typeface="Roboto"/>
                <a:sym typeface="Roboto"/>
              </a:rPr>
              <a:t>2026</a:t>
            </a:r>
            <a:endParaRPr sz="1500">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A screenshot of a computer&#10;&#10;Description automatically generated" id="92" name="Google Shape;92;p2"/>
          <p:cNvPicPr preferRelativeResize="0"/>
          <p:nvPr/>
        </p:nvPicPr>
        <p:blipFill rotWithShape="1">
          <a:blip r:embed="rId3">
            <a:alphaModFix/>
          </a:blip>
          <a:srcRect b="0" l="0" r="0" t="0"/>
          <a:stretch/>
        </p:blipFill>
        <p:spPr>
          <a:xfrm>
            <a:off x="41900" y="62825"/>
            <a:ext cx="12192000" cy="6858000"/>
          </a:xfrm>
          <a:prstGeom prst="rect">
            <a:avLst/>
          </a:prstGeom>
          <a:noFill/>
          <a:ln>
            <a:noFill/>
          </a:ln>
        </p:spPr>
      </p:pic>
      <p:sp>
        <p:nvSpPr>
          <p:cNvPr id="93" name="Google Shape;93;p2"/>
          <p:cNvSpPr txBox="1"/>
          <p:nvPr/>
        </p:nvSpPr>
        <p:spPr>
          <a:xfrm>
            <a:off x="2510240" y="963148"/>
            <a:ext cx="1916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Contexto</a:t>
            </a:r>
            <a:endParaRPr b="1" i="0" sz="3600" u="none" cap="none" strike="noStrike">
              <a:solidFill>
                <a:srgbClr val="242B5A"/>
              </a:solidFill>
              <a:latin typeface="Calibri"/>
              <a:ea typeface="Calibri"/>
              <a:cs typeface="Calibri"/>
              <a:sym typeface="Calibri"/>
            </a:endParaRPr>
          </a:p>
        </p:txBody>
      </p:sp>
      <p:sp>
        <p:nvSpPr>
          <p:cNvPr id="94" name="Google Shape;94;p2"/>
          <p:cNvSpPr txBox="1"/>
          <p:nvPr/>
        </p:nvSpPr>
        <p:spPr>
          <a:xfrm>
            <a:off x="1142000" y="1488325"/>
            <a:ext cx="7238700" cy="4433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s-MX" sz="2000" u="none" cap="none" strike="noStrike">
                <a:solidFill>
                  <a:srgbClr val="000000"/>
                </a:solidFill>
                <a:latin typeface="Trebuchet MS"/>
                <a:ea typeface="Trebuchet MS"/>
                <a:cs typeface="Trebuchet MS"/>
                <a:sym typeface="Trebuchet MS"/>
              </a:rPr>
              <a:t>En Colombia, la reprobación y la deserción escolar en la educación secundaria (grados 6° a 11°) representan un desafío educativo estructural. El SIEE (Sistema Institucional de Evaluación de Estudiantes) establece los criterios de aprobación y promoción escolar.</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sz="2000">
              <a:latin typeface="Trebuchet MS"/>
              <a:ea typeface="Trebuchet MS"/>
              <a:cs typeface="Trebuchet MS"/>
              <a:sym typeface="Trebuchet MS"/>
            </a:endParaRPr>
          </a:p>
          <a:p>
            <a:pPr indent="0" lvl="0" marL="457200" marR="0" rtl="0" algn="just">
              <a:lnSpc>
                <a:spcPct val="100000"/>
              </a:lnSpc>
              <a:spcBef>
                <a:spcPts val="0"/>
              </a:spcBef>
              <a:spcAft>
                <a:spcPts val="0"/>
              </a:spcAft>
              <a:buClr>
                <a:srgbClr val="000000"/>
              </a:buClr>
              <a:buSzPts val="2000"/>
              <a:buFont typeface="Arial"/>
              <a:buNone/>
            </a:pPr>
            <a:r>
              <a:rPr b="0" i="0" lang="es-MX" sz="1400" u="none" cap="none" strike="noStrike">
                <a:solidFill>
                  <a:srgbClr val="000000"/>
                </a:solidFill>
                <a:latin typeface="Arial"/>
                <a:ea typeface="Arial"/>
                <a:cs typeface="Arial"/>
                <a:sym typeface="Arial"/>
              </a:rPr>
              <a:t>Los sistemas de alerta temprana con Machine Learning permiten identificar, antes de finalizar el año lectivo, qué estudiantes tienen alto riesgo de reprobación, habilitando intervenciones pedagógicas oportunas.</a:t>
            </a:r>
            <a:endParaRPr b="0" i="0" sz="14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2000"/>
              <a:buFont typeface="Arial"/>
              <a:buNone/>
            </a:pPr>
            <a:r>
              <a:t/>
            </a:r>
            <a:endParaRPr/>
          </a:p>
          <a:p>
            <a:pPr indent="0" lvl="0" marL="0" marR="0" rtl="0" algn="just">
              <a:lnSpc>
                <a:spcPct val="100000"/>
              </a:lnSpc>
              <a:spcBef>
                <a:spcPts val="0"/>
              </a:spcBef>
              <a:spcAft>
                <a:spcPts val="0"/>
              </a:spcAft>
              <a:buClr>
                <a:srgbClr val="000000"/>
              </a:buClr>
              <a:buSzPts val="2000"/>
              <a:buFont typeface="Arial"/>
              <a:buNone/>
            </a:pPr>
            <a:r>
              <a:rPr b="0" i="0" lang="es-MX" sz="2000" u="none" cap="none" strike="noStrike">
                <a:solidFill>
                  <a:srgbClr val="000000"/>
                </a:solidFill>
                <a:latin typeface="Trebuchet MS"/>
                <a:ea typeface="Trebuchet MS"/>
                <a:cs typeface="Trebuchet MS"/>
                <a:sym typeface="Trebuchet MS"/>
              </a:rPr>
              <a:t>Entre 2018 y 2024, han ocurrido diversos factores que han influido en la asignación de recursos, por lo que es clave evaluar su impacto en las condiciones de vida.</a:t>
            </a:r>
            <a:endParaRPr b="0" i="0" sz="2000" u="none" cap="none" strike="noStrike">
              <a:solidFill>
                <a:srgbClr val="000000"/>
              </a:solidFill>
              <a:latin typeface="Trebuchet MS"/>
              <a:ea typeface="Trebuchet MS"/>
              <a:cs typeface="Trebuchet MS"/>
              <a:sym typeface="Trebuchet MS"/>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p:txBody>
      </p:sp>
      <p:pic>
        <p:nvPicPr>
          <p:cNvPr id="95" name="Google Shape;95;p2"/>
          <p:cNvPicPr preferRelativeResize="0"/>
          <p:nvPr/>
        </p:nvPicPr>
        <p:blipFill rotWithShape="1">
          <a:blip r:embed="rId4">
            <a:alphaModFix/>
          </a:blip>
          <a:srcRect b="0" l="0" r="0" t="0"/>
          <a:stretch/>
        </p:blipFill>
        <p:spPr>
          <a:xfrm>
            <a:off x="8905088" y="1216400"/>
            <a:ext cx="2066925" cy="4257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descr="A screenshot of a computer&#10;&#10;Description automatically generated" id="100" name="Google Shape;100;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3"/>
          <p:cNvSpPr txBox="1"/>
          <p:nvPr/>
        </p:nvSpPr>
        <p:spPr>
          <a:xfrm>
            <a:off x="2531165" y="1046923"/>
            <a:ext cx="565539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Planteamiento del problema</a:t>
            </a:r>
            <a:endParaRPr b="1" i="0" sz="3600" u="none" cap="none" strike="noStrike">
              <a:solidFill>
                <a:srgbClr val="242B5A"/>
              </a:solidFill>
              <a:latin typeface="Calibri"/>
              <a:ea typeface="Calibri"/>
              <a:cs typeface="Calibri"/>
              <a:sym typeface="Calibri"/>
            </a:endParaRPr>
          </a:p>
        </p:txBody>
      </p:sp>
      <p:sp>
        <p:nvSpPr>
          <p:cNvPr id="102" name="Google Shape;102;p3"/>
          <p:cNvSpPr txBox="1"/>
          <p:nvPr/>
        </p:nvSpPr>
        <p:spPr>
          <a:xfrm>
            <a:off x="4690625" y="2034450"/>
            <a:ext cx="6407700" cy="2893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s-MX" sz="2200" u="none" cap="none" strike="noStrike">
                <a:solidFill>
                  <a:srgbClr val="000000"/>
                </a:solidFill>
                <a:latin typeface="Trebuchet MS"/>
                <a:ea typeface="Trebuchet MS"/>
                <a:cs typeface="Trebuchet MS"/>
                <a:sym typeface="Trebuchet MS"/>
              </a:rPr>
              <a:t>Las instituciones educativas colombianas poseen datos académicos históricos detallados de sus estudiantes (calificaciones, inasistencias, refuerzos), pero no siempre cuentan con herramientas automatizadas que conviertan esos datos en alertas tempranas de riesgo académico, generando intervenciones tardías que no logran revertir la reprobación.</a:t>
            </a:r>
            <a:endParaRPr b="0" i="0" sz="2200" u="none" cap="none" strike="noStrike">
              <a:solidFill>
                <a:srgbClr val="000000"/>
              </a:solidFill>
              <a:latin typeface="Trebuchet MS"/>
              <a:ea typeface="Trebuchet MS"/>
              <a:cs typeface="Trebuchet MS"/>
              <a:sym typeface="Trebuchet MS"/>
            </a:endParaRPr>
          </a:p>
        </p:txBody>
      </p:sp>
      <p:pic>
        <p:nvPicPr>
          <p:cNvPr id="103" name="Google Shape;103;p3"/>
          <p:cNvPicPr preferRelativeResize="0"/>
          <p:nvPr/>
        </p:nvPicPr>
        <p:blipFill rotWithShape="1">
          <a:blip r:embed="rId4">
            <a:alphaModFix/>
          </a:blip>
          <a:srcRect b="0" l="0" r="0" t="0"/>
          <a:stretch/>
        </p:blipFill>
        <p:spPr>
          <a:xfrm>
            <a:off x="1186075" y="1811350"/>
            <a:ext cx="3340001" cy="33400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A screenshot of a computer&#10;&#10;Description automatically generated" id="108" name="Google Shape;108;p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9" name="Google Shape;109;p4"/>
          <p:cNvSpPr txBox="1"/>
          <p:nvPr/>
        </p:nvSpPr>
        <p:spPr>
          <a:xfrm>
            <a:off x="2803390" y="921273"/>
            <a:ext cx="2014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Objetivos</a:t>
            </a:r>
            <a:endParaRPr b="1" i="0" sz="3600" u="none" cap="none" strike="noStrike">
              <a:solidFill>
                <a:srgbClr val="242B5A"/>
              </a:solidFill>
              <a:latin typeface="Calibri"/>
              <a:ea typeface="Calibri"/>
              <a:cs typeface="Calibri"/>
              <a:sym typeface="Calibri"/>
            </a:endParaRPr>
          </a:p>
        </p:txBody>
      </p:sp>
      <p:sp>
        <p:nvSpPr>
          <p:cNvPr id="110" name="Google Shape;110;p4"/>
          <p:cNvSpPr txBox="1"/>
          <p:nvPr/>
        </p:nvSpPr>
        <p:spPr>
          <a:xfrm>
            <a:off x="1166173" y="1475747"/>
            <a:ext cx="6731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MX" sz="2800" u="none" cap="none" strike="noStrike">
                <a:solidFill>
                  <a:srgbClr val="242B5A"/>
                </a:solidFill>
                <a:latin typeface="Calibri"/>
                <a:ea typeface="Calibri"/>
                <a:cs typeface="Calibri"/>
                <a:sym typeface="Calibri"/>
              </a:rPr>
              <a:t>General</a:t>
            </a:r>
            <a:endParaRPr b="1" i="0" sz="2800" u="none" cap="none" strike="noStrike">
              <a:solidFill>
                <a:srgbClr val="242B5A"/>
              </a:solidFill>
              <a:latin typeface="Calibri"/>
              <a:ea typeface="Calibri"/>
              <a:cs typeface="Calibri"/>
              <a:sym typeface="Calibri"/>
            </a:endParaRPr>
          </a:p>
        </p:txBody>
      </p:sp>
      <p:sp>
        <p:nvSpPr>
          <p:cNvPr id="111" name="Google Shape;111;p4"/>
          <p:cNvSpPr txBox="1"/>
          <p:nvPr/>
        </p:nvSpPr>
        <p:spPr>
          <a:xfrm>
            <a:off x="1166175" y="1954384"/>
            <a:ext cx="8694600" cy="1486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1900"/>
              <a:buFont typeface="Arial"/>
              <a:buNone/>
            </a:pPr>
            <a:r>
              <a:rPr b="0" i="0" lang="es-MX" sz="1900" u="none" cap="none" strike="noStrike">
                <a:solidFill>
                  <a:schemeClr val="dk1"/>
                </a:solidFill>
                <a:latin typeface="Trebuchet MS"/>
                <a:ea typeface="Trebuchet MS"/>
                <a:cs typeface="Trebuchet MS"/>
                <a:sym typeface="Trebuchet MS"/>
              </a:rPr>
              <a:t>Diseñar, entrenar y evaluar modelos de Machine Learning supervisados que permitan predecir si un estudiante de educación secundaria colombiana aprobará o reprobará el ciclo académico, a partir de sus características académicas y de asistencia agregadas por año.</a:t>
            </a:r>
            <a:endParaRPr b="0" i="0" sz="3000" u="none" cap="none" strike="noStrike">
              <a:solidFill>
                <a:srgbClr val="000000"/>
              </a:solidFill>
              <a:latin typeface="Calibri"/>
              <a:ea typeface="Calibri"/>
              <a:cs typeface="Calibri"/>
              <a:sym typeface="Calibri"/>
            </a:endParaRPr>
          </a:p>
        </p:txBody>
      </p:sp>
      <p:sp>
        <p:nvSpPr>
          <p:cNvPr id="112" name="Google Shape;112;p4"/>
          <p:cNvSpPr txBox="1"/>
          <p:nvPr/>
        </p:nvSpPr>
        <p:spPr>
          <a:xfrm>
            <a:off x="1166173" y="3459961"/>
            <a:ext cx="6731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MX" sz="2800" u="none" cap="none" strike="noStrike">
                <a:solidFill>
                  <a:srgbClr val="242B5A"/>
                </a:solidFill>
                <a:latin typeface="Calibri"/>
                <a:ea typeface="Calibri"/>
                <a:cs typeface="Calibri"/>
                <a:sym typeface="Calibri"/>
              </a:rPr>
              <a:t>Específicos </a:t>
            </a:r>
            <a:endParaRPr b="1" i="0" sz="2800" u="none" cap="none" strike="noStrike">
              <a:solidFill>
                <a:srgbClr val="242B5A"/>
              </a:solidFill>
              <a:latin typeface="Calibri"/>
              <a:ea typeface="Calibri"/>
              <a:cs typeface="Calibri"/>
              <a:sym typeface="Calibri"/>
            </a:endParaRPr>
          </a:p>
        </p:txBody>
      </p:sp>
      <p:sp>
        <p:nvSpPr>
          <p:cNvPr id="113" name="Google Shape;113;p4"/>
          <p:cNvSpPr txBox="1"/>
          <p:nvPr/>
        </p:nvSpPr>
        <p:spPr>
          <a:xfrm>
            <a:off x="1166175" y="3873125"/>
            <a:ext cx="10287300" cy="1822500"/>
          </a:xfrm>
          <a:prstGeom prst="rect">
            <a:avLst/>
          </a:prstGeom>
          <a:noFill/>
          <a:ln>
            <a:noFill/>
          </a:ln>
        </p:spPr>
        <p:txBody>
          <a:bodyPr anchorCtr="0" anchor="t" bIns="91425" lIns="91425" spcFirstLastPara="1" rIns="91425" wrap="square" tIns="91425">
            <a:spAutoFit/>
          </a:bodyPr>
          <a:lstStyle/>
          <a:p>
            <a:pPr indent="-349250" lvl="0" marL="457200" marR="0" rtl="0" algn="just">
              <a:lnSpc>
                <a:spcPct val="115000"/>
              </a:lnSpc>
              <a:spcBef>
                <a:spcPts val="1200"/>
              </a:spcBef>
              <a:spcAft>
                <a:spcPts val="0"/>
              </a:spcAft>
              <a:buClr>
                <a:srgbClr val="000000"/>
              </a:buClr>
              <a:buSzPts val="1900"/>
              <a:buFont typeface="Calibri"/>
              <a:buChar char="●"/>
            </a:pPr>
            <a:r>
              <a:rPr b="0" i="0" lang="es-MX" sz="1900" u="none" cap="none" strike="noStrike">
                <a:solidFill>
                  <a:schemeClr val="dk1"/>
                </a:solidFill>
                <a:latin typeface="Trebuchet MS"/>
                <a:ea typeface="Trebuchet MS"/>
                <a:cs typeface="Trebuchet MS"/>
                <a:sym typeface="Trebuchet MS"/>
              </a:rPr>
              <a:t>Construir un pipeline de ETL y feature engineering para consolidar registros a nivel estudiante-año.</a:t>
            </a:r>
            <a:endParaRPr b="0" i="0" sz="1900" u="none" cap="none" strike="noStrike">
              <a:solidFill>
                <a:schemeClr val="dk1"/>
              </a:solidFill>
              <a:latin typeface="Trebuchet MS"/>
              <a:ea typeface="Trebuchet MS"/>
              <a:cs typeface="Trebuchet MS"/>
              <a:sym typeface="Trebuchet MS"/>
            </a:endParaRPr>
          </a:p>
          <a:p>
            <a:pPr indent="-349250" lvl="0" marL="457200" marR="0" rtl="0" algn="just">
              <a:lnSpc>
                <a:spcPct val="115000"/>
              </a:lnSpc>
              <a:spcBef>
                <a:spcPts val="0"/>
              </a:spcBef>
              <a:spcAft>
                <a:spcPts val="0"/>
              </a:spcAft>
              <a:buClr>
                <a:schemeClr val="dk1"/>
              </a:buClr>
              <a:buSzPts val="1900"/>
              <a:buFont typeface="Calibri"/>
              <a:buChar char="●"/>
            </a:pPr>
            <a:r>
              <a:rPr b="0" i="0" lang="es-MX" sz="1900" u="none" cap="none" strike="noStrike">
                <a:solidFill>
                  <a:schemeClr val="dk1"/>
                </a:solidFill>
                <a:latin typeface="Trebuchet MS"/>
                <a:ea typeface="Trebuchet MS"/>
                <a:cs typeface="Trebuchet MS"/>
                <a:sym typeface="Trebuchet MS"/>
              </a:rPr>
              <a:t>Entrenar una Regresión Lineal para predecir el promedio continuo de notas (0.0 a 5.0).</a:t>
            </a:r>
            <a:endParaRPr b="0" i="0" sz="1900" u="none" cap="none" strike="noStrike">
              <a:solidFill>
                <a:schemeClr val="dk1"/>
              </a:solidFill>
              <a:latin typeface="Trebuchet MS"/>
              <a:ea typeface="Trebuchet MS"/>
              <a:cs typeface="Trebuchet MS"/>
              <a:sym typeface="Trebuchet MS"/>
            </a:endParaRPr>
          </a:p>
          <a:p>
            <a:pPr indent="-349250" lvl="0" marL="457200" marR="0" rtl="0" algn="just">
              <a:lnSpc>
                <a:spcPct val="115000"/>
              </a:lnSpc>
              <a:spcBef>
                <a:spcPts val="0"/>
              </a:spcBef>
              <a:spcAft>
                <a:spcPts val="0"/>
              </a:spcAft>
              <a:buClr>
                <a:schemeClr val="dk1"/>
              </a:buClr>
              <a:buSzPts val="1900"/>
              <a:buFont typeface="Calibri"/>
              <a:buChar char="●"/>
            </a:pPr>
            <a:r>
              <a:rPr b="0" i="0" lang="es-MX" sz="1900" u="none" cap="none" strike="noStrike">
                <a:solidFill>
                  <a:schemeClr val="dk1"/>
                </a:solidFill>
                <a:latin typeface="Trebuchet MS"/>
                <a:ea typeface="Trebuchet MS"/>
                <a:cs typeface="Trebuchet MS"/>
                <a:sym typeface="Trebuchet MS"/>
              </a:rPr>
              <a:t>Entrenar Regresión Logística y Árbol de Decisión para clasificar Aprueba / No Aprueba.</a:t>
            </a:r>
            <a:endParaRPr b="0" i="0" sz="1900" u="none" cap="none" strike="noStrike">
              <a:solidFill>
                <a:schemeClr val="dk1"/>
              </a:solidFill>
              <a:latin typeface="Trebuchet MS"/>
              <a:ea typeface="Trebuchet MS"/>
              <a:cs typeface="Trebuchet MS"/>
              <a:sym typeface="Trebuchet MS"/>
            </a:endParaRPr>
          </a:p>
          <a:p>
            <a:pPr indent="-349250" lvl="0" marL="457200" marR="0" rtl="0" algn="just">
              <a:lnSpc>
                <a:spcPct val="115000"/>
              </a:lnSpc>
              <a:spcBef>
                <a:spcPts val="0"/>
              </a:spcBef>
              <a:spcAft>
                <a:spcPts val="0"/>
              </a:spcAft>
              <a:buClr>
                <a:schemeClr val="dk1"/>
              </a:buClr>
              <a:buSzPts val="1900"/>
              <a:buFont typeface="Calibri"/>
              <a:buChar char="●"/>
            </a:pPr>
            <a:r>
              <a:rPr b="0" i="0" lang="es-MX" sz="1900" u="none" cap="none" strike="noStrike">
                <a:solidFill>
                  <a:schemeClr val="dk1"/>
                </a:solidFill>
                <a:latin typeface="Trebuchet MS"/>
                <a:ea typeface="Trebuchet MS"/>
                <a:cs typeface="Trebuchet MS"/>
                <a:sym typeface="Trebuchet MS"/>
              </a:rPr>
              <a:t>Evaluar con métricas: R², MAE, RMSE, Accuracy, Precision, Recall, F1-Score y ROC-AUC.</a:t>
            </a:r>
            <a:endParaRPr b="0" i="0" sz="1900" u="none" cap="none" strike="noStrike">
              <a:solidFill>
                <a:schemeClr val="dk1"/>
              </a:solidFill>
              <a:latin typeface="Trebuchet MS"/>
              <a:ea typeface="Trebuchet MS"/>
              <a:cs typeface="Trebuchet MS"/>
              <a:sym typeface="Trebuchet MS"/>
            </a:endParaRPr>
          </a:p>
          <a:p>
            <a:pPr indent="-349250" lvl="0" marL="457200" marR="0" rtl="0" algn="just">
              <a:lnSpc>
                <a:spcPct val="115000"/>
              </a:lnSpc>
              <a:spcBef>
                <a:spcPts val="0"/>
              </a:spcBef>
              <a:spcAft>
                <a:spcPts val="1000"/>
              </a:spcAft>
              <a:buClr>
                <a:schemeClr val="dk1"/>
              </a:buClr>
              <a:buSzPts val="1900"/>
              <a:buFont typeface="Calibri"/>
              <a:buChar char="●"/>
            </a:pPr>
            <a:r>
              <a:rPr b="0" i="0" lang="es-MX" sz="1900" u="none" cap="none" strike="noStrike">
                <a:solidFill>
                  <a:schemeClr val="dk1"/>
                </a:solidFill>
                <a:latin typeface="Trebuchet MS"/>
                <a:ea typeface="Trebuchet MS"/>
                <a:cs typeface="Trebuchet MS"/>
                <a:sym typeface="Trebuchet MS"/>
              </a:rPr>
              <a:t>Desplegar el sistema como aplicación web interactiva con Streamlit.</a:t>
            </a:r>
            <a:endParaRPr b="0" i="0" sz="2500" u="none" cap="none" strike="noStrike">
              <a:solidFill>
                <a:schemeClr val="dk1"/>
              </a:solidFill>
              <a:latin typeface="Trebuchet MS"/>
              <a:ea typeface="Trebuchet MS"/>
              <a:cs typeface="Trebuchet MS"/>
              <a:sym typeface="Trebuchet MS"/>
            </a:endParaRPr>
          </a:p>
        </p:txBody>
      </p:sp>
      <p:pic>
        <p:nvPicPr>
          <p:cNvPr id="114" name="Google Shape;114;p4"/>
          <p:cNvPicPr preferRelativeResize="0"/>
          <p:nvPr/>
        </p:nvPicPr>
        <p:blipFill rotWithShape="1">
          <a:blip r:embed="rId4">
            <a:alphaModFix/>
          </a:blip>
          <a:srcRect b="0" l="0" r="0" t="0"/>
          <a:stretch/>
        </p:blipFill>
        <p:spPr>
          <a:xfrm>
            <a:off x="9380750" y="1183225"/>
            <a:ext cx="2689900" cy="2689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A screenshot of a computer&#10;&#10;Description automatically generated" id="119" name="Google Shape;119;p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0" name="Google Shape;120;p5"/>
          <p:cNvSpPr txBox="1"/>
          <p:nvPr/>
        </p:nvSpPr>
        <p:spPr>
          <a:xfrm>
            <a:off x="2531165" y="1046923"/>
            <a:ext cx="26424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Metodología</a:t>
            </a:r>
            <a:endParaRPr b="1" i="0" sz="3600" u="none" cap="none" strike="noStrike">
              <a:solidFill>
                <a:srgbClr val="242B5A"/>
              </a:solidFill>
              <a:latin typeface="Calibri"/>
              <a:ea typeface="Calibri"/>
              <a:cs typeface="Calibri"/>
              <a:sym typeface="Calibri"/>
            </a:endParaRPr>
          </a:p>
        </p:txBody>
      </p:sp>
      <p:sp>
        <p:nvSpPr>
          <p:cNvPr id="121" name="Google Shape;121;p5"/>
          <p:cNvSpPr txBox="1"/>
          <p:nvPr/>
        </p:nvSpPr>
        <p:spPr>
          <a:xfrm>
            <a:off x="4292825" y="1817796"/>
            <a:ext cx="7308300" cy="40635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rgbClr val="000000"/>
              </a:buClr>
              <a:buSzPts val="2100"/>
              <a:buFont typeface="Trebuchet MS"/>
              <a:buChar char="●"/>
            </a:pPr>
            <a:r>
              <a:rPr b="0" i="0" lang="es-MX" sz="2100" u="none" cap="none" strike="noStrike">
                <a:solidFill>
                  <a:srgbClr val="000000"/>
                </a:solidFill>
                <a:latin typeface="Trebuchet MS"/>
                <a:ea typeface="Trebuchet MS"/>
                <a:cs typeface="Trebuchet MS"/>
                <a:sym typeface="Trebuchet MS"/>
              </a:rPr>
              <a:t>ETL y construcción del dataset consolidado a nivel estudiante-año.</a:t>
            </a:r>
            <a:endParaRPr b="0" i="0" sz="2100" u="none" cap="none" strike="noStrike">
              <a:solidFill>
                <a:srgbClr val="000000"/>
              </a:solidFill>
              <a:latin typeface="Trebuchet MS"/>
              <a:ea typeface="Trebuchet MS"/>
              <a:cs typeface="Trebuchet MS"/>
              <a:sym typeface="Trebuchet MS"/>
            </a:endParaRPr>
          </a:p>
          <a:p>
            <a:pPr indent="-361950" lvl="0" marL="457200" marR="0" rtl="0" algn="l">
              <a:lnSpc>
                <a:spcPct val="100000"/>
              </a:lnSpc>
              <a:spcBef>
                <a:spcPts val="0"/>
              </a:spcBef>
              <a:spcAft>
                <a:spcPts val="0"/>
              </a:spcAft>
              <a:buClr>
                <a:srgbClr val="000000"/>
              </a:buClr>
              <a:buSzPts val="2100"/>
              <a:buFont typeface="Trebuchet MS"/>
              <a:buChar char="●"/>
            </a:pPr>
            <a:r>
              <a:rPr b="0" i="0" lang="es-MX" sz="2100" u="none" cap="none" strike="noStrike">
                <a:solidFill>
                  <a:srgbClr val="000000"/>
                </a:solidFill>
                <a:latin typeface="Trebuchet MS"/>
                <a:ea typeface="Trebuchet MS"/>
                <a:cs typeface="Trebuchet MS"/>
                <a:sym typeface="Trebuchet MS"/>
              </a:rPr>
              <a:t>Análisis exploratorio (EDA) con Python en Google Colab.</a:t>
            </a:r>
            <a:endParaRPr b="0" i="0" sz="2100" u="none" cap="none" strike="noStrike">
              <a:solidFill>
                <a:srgbClr val="000000"/>
              </a:solidFill>
              <a:latin typeface="Trebuchet MS"/>
              <a:ea typeface="Trebuchet MS"/>
              <a:cs typeface="Trebuchet MS"/>
              <a:sym typeface="Trebuchet MS"/>
            </a:endParaRPr>
          </a:p>
          <a:p>
            <a:pPr indent="-361950" lvl="0" marL="457200" marR="0" rtl="0" algn="l">
              <a:lnSpc>
                <a:spcPct val="100000"/>
              </a:lnSpc>
              <a:spcBef>
                <a:spcPts val="0"/>
              </a:spcBef>
              <a:spcAft>
                <a:spcPts val="0"/>
              </a:spcAft>
              <a:buClr>
                <a:srgbClr val="000000"/>
              </a:buClr>
              <a:buSzPts val="2100"/>
              <a:buFont typeface="Trebuchet MS"/>
              <a:buChar char="●"/>
            </a:pPr>
            <a:r>
              <a:rPr b="0" i="0" lang="es-MX" sz="2100" u="none" cap="none" strike="noStrike">
                <a:solidFill>
                  <a:srgbClr val="000000"/>
                </a:solidFill>
                <a:latin typeface="Trebuchet MS"/>
                <a:ea typeface="Trebuchet MS"/>
                <a:cs typeface="Trebuchet MS"/>
                <a:sym typeface="Trebuchet MS"/>
              </a:rPr>
              <a:t>Feature engineering: 11 variables base + promedios por asignatura + variables de interacción.</a:t>
            </a:r>
            <a:endParaRPr b="0" i="0" sz="2100" u="none" cap="none" strike="noStrike">
              <a:solidFill>
                <a:srgbClr val="000000"/>
              </a:solidFill>
              <a:latin typeface="Trebuchet MS"/>
              <a:ea typeface="Trebuchet MS"/>
              <a:cs typeface="Trebuchet MS"/>
              <a:sym typeface="Trebuchet MS"/>
            </a:endParaRPr>
          </a:p>
          <a:p>
            <a:pPr indent="-361950" lvl="0" marL="457200" marR="0" rtl="0" algn="l">
              <a:lnSpc>
                <a:spcPct val="100000"/>
              </a:lnSpc>
              <a:spcBef>
                <a:spcPts val="0"/>
              </a:spcBef>
              <a:spcAft>
                <a:spcPts val="0"/>
              </a:spcAft>
              <a:buClr>
                <a:schemeClr val="dk1"/>
              </a:buClr>
              <a:buSzPts val="2100"/>
              <a:buFont typeface="Trebuchet MS"/>
              <a:buChar char="●"/>
            </a:pPr>
            <a:r>
              <a:rPr b="0" i="0" lang="es-MX" sz="2100" u="none" cap="none" strike="noStrike">
                <a:solidFill>
                  <a:schemeClr val="dk1"/>
                </a:solidFill>
                <a:latin typeface="Trebuchet MS"/>
                <a:ea typeface="Trebuchet MS"/>
                <a:cs typeface="Trebuchet MS"/>
                <a:sym typeface="Trebuchet MS"/>
              </a:rPr>
              <a:t>Entrenamiento de 3 modelos con Scikit-Learn: Regresión Lineal, Logística y Árbol de Decisión.</a:t>
            </a:r>
            <a:endParaRPr b="0" i="0" sz="2100" u="none" cap="none" strike="noStrike">
              <a:solidFill>
                <a:schemeClr val="dk1"/>
              </a:solidFill>
              <a:latin typeface="Trebuchet MS"/>
              <a:ea typeface="Trebuchet MS"/>
              <a:cs typeface="Trebuchet MS"/>
              <a:sym typeface="Trebuchet MS"/>
            </a:endParaRPr>
          </a:p>
          <a:p>
            <a:pPr indent="-361950" lvl="0" marL="457200" marR="0" rtl="0" algn="l">
              <a:lnSpc>
                <a:spcPct val="100000"/>
              </a:lnSpc>
              <a:spcBef>
                <a:spcPts val="0"/>
              </a:spcBef>
              <a:spcAft>
                <a:spcPts val="0"/>
              </a:spcAft>
              <a:buClr>
                <a:schemeClr val="dk1"/>
              </a:buClr>
              <a:buSzPts val="2100"/>
              <a:buFont typeface="Trebuchet MS"/>
              <a:buChar char="●"/>
            </a:pPr>
            <a:r>
              <a:rPr b="0" i="0" lang="es-MX" sz="2100" u="none" cap="none" strike="noStrike">
                <a:solidFill>
                  <a:schemeClr val="dk1"/>
                </a:solidFill>
                <a:latin typeface="Trebuchet MS"/>
                <a:ea typeface="Trebuchet MS"/>
                <a:cs typeface="Trebuchet MS"/>
                <a:sym typeface="Trebuchet MS"/>
              </a:rPr>
              <a:t>Evaluación con métricas de regresión y clasificación. Serialización con joblib.</a:t>
            </a:r>
            <a:endParaRPr b="0" i="0" sz="2100" u="none" cap="none" strike="noStrike">
              <a:solidFill>
                <a:srgbClr val="000000"/>
              </a:solidFill>
              <a:latin typeface="Trebuchet MS"/>
              <a:ea typeface="Trebuchet MS"/>
              <a:cs typeface="Trebuchet MS"/>
              <a:sym typeface="Trebuchet MS"/>
            </a:endParaRPr>
          </a:p>
          <a:p>
            <a:pPr indent="-361950" lvl="0" marL="457200" marR="0" rtl="0" algn="l">
              <a:lnSpc>
                <a:spcPct val="100000"/>
              </a:lnSpc>
              <a:spcBef>
                <a:spcPts val="0"/>
              </a:spcBef>
              <a:spcAft>
                <a:spcPts val="0"/>
              </a:spcAft>
              <a:buClr>
                <a:srgbClr val="000000"/>
              </a:buClr>
              <a:buSzPts val="2100"/>
              <a:buFont typeface="Trebuchet MS"/>
              <a:buChar char="●"/>
            </a:pPr>
            <a:r>
              <a:rPr b="0" i="0" lang="es-MX" sz="2100" u="none" cap="none" strike="noStrike">
                <a:solidFill>
                  <a:srgbClr val="000000"/>
                </a:solidFill>
                <a:latin typeface="Trebuchet MS"/>
                <a:ea typeface="Trebuchet MS"/>
                <a:cs typeface="Trebuchet MS"/>
                <a:sym typeface="Trebuchet MS"/>
              </a:rPr>
              <a:t>Despliegue como aplicación web interactiva en Streamlit con panel EDA, predicción y quiz.</a:t>
            </a:r>
            <a:endParaRPr b="0" i="0" sz="2100" u="none" cap="none" strike="noStrike">
              <a:solidFill>
                <a:srgbClr val="000000"/>
              </a:solidFill>
              <a:latin typeface="Trebuchet MS"/>
              <a:ea typeface="Trebuchet MS"/>
              <a:cs typeface="Trebuchet MS"/>
              <a:sym typeface="Trebuchet MS"/>
            </a:endParaRPr>
          </a:p>
        </p:txBody>
      </p:sp>
      <p:pic>
        <p:nvPicPr>
          <p:cNvPr id="122" name="Google Shape;122;p5"/>
          <p:cNvPicPr preferRelativeResize="0"/>
          <p:nvPr/>
        </p:nvPicPr>
        <p:blipFill rotWithShape="1">
          <a:blip r:embed="rId4">
            <a:alphaModFix/>
          </a:blip>
          <a:srcRect b="0" l="0" r="0" t="0"/>
          <a:stretch/>
        </p:blipFill>
        <p:spPr>
          <a:xfrm>
            <a:off x="663550" y="2020750"/>
            <a:ext cx="3871750" cy="2690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A screenshot of a computer&#10;&#10;Description automatically generated" id="127" name="Google Shape;127;p6"/>
          <p:cNvPicPr preferRelativeResize="0"/>
          <p:nvPr/>
        </p:nvPicPr>
        <p:blipFill rotWithShape="1">
          <a:blip r:embed="rId3">
            <a:alphaModFix/>
          </a:blip>
          <a:srcRect b="0" l="0" r="0" t="0"/>
          <a:stretch/>
        </p:blipFill>
        <p:spPr>
          <a:xfrm>
            <a:off x="0" y="47297"/>
            <a:ext cx="12192000" cy="6858000"/>
          </a:xfrm>
          <a:prstGeom prst="rect">
            <a:avLst/>
          </a:prstGeom>
          <a:noFill/>
          <a:ln>
            <a:noFill/>
          </a:ln>
        </p:spPr>
      </p:pic>
      <p:sp>
        <p:nvSpPr>
          <p:cNvPr id="128" name="Google Shape;128;p6"/>
          <p:cNvSpPr txBox="1"/>
          <p:nvPr/>
        </p:nvSpPr>
        <p:spPr>
          <a:xfrm>
            <a:off x="2531165" y="1046923"/>
            <a:ext cx="690701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Recolección y Exploración de Datos</a:t>
            </a:r>
            <a:endParaRPr b="1" i="0" sz="3600" u="none" cap="none" strike="noStrike">
              <a:solidFill>
                <a:srgbClr val="242B5A"/>
              </a:solidFill>
              <a:latin typeface="Calibri"/>
              <a:ea typeface="Calibri"/>
              <a:cs typeface="Calibri"/>
              <a:sym typeface="Calibri"/>
            </a:endParaRPr>
          </a:p>
        </p:txBody>
      </p:sp>
      <p:sp>
        <p:nvSpPr>
          <p:cNvPr id="129" name="Google Shape;129;p6"/>
          <p:cNvSpPr txBox="1"/>
          <p:nvPr/>
        </p:nvSpPr>
        <p:spPr>
          <a:xfrm>
            <a:off x="1193600" y="1693250"/>
            <a:ext cx="8836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6"/>
          <p:cNvSpPr txBox="1"/>
          <p:nvPr/>
        </p:nvSpPr>
        <p:spPr>
          <a:xfrm>
            <a:off x="952800" y="1831700"/>
            <a:ext cx="10438800" cy="1231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700"/>
              <a:buFont typeface="Arial"/>
              <a:buNone/>
            </a:pPr>
            <a:r>
              <a:rPr b="0" i="0" lang="es-MX" sz="1700" u="none" cap="none" strike="noStrike">
                <a:solidFill>
                  <a:srgbClr val="000000"/>
                </a:solidFill>
                <a:latin typeface="Trebuchet MS"/>
                <a:ea typeface="Trebuchet MS"/>
                <a:cs typeface="Trebuchet MS"/>
                <a:sym typeface="Trebuchet MS"/>
              </a:rPr>
              <a:t>Fuente principal: Resultados_2015-2024_limpio.csv (generado en la fase ETL previa). Los datos fueron procesados por preparar_datos_y_modelos.py y consolidados en dataset_modelos_aprendizaje.xlsx (3 hojas).</a:t>
            </a:r>
            <a:endParaRPr b="0" i="0" sz="17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Trebuchet MS"/>
              <a:ea typeface="Trebuchet MS"/>
              <a:cs typeface="Trebuchet MS"/>
              <a:sym typeface="Trebuchet MS"/>
            </a:endParaRPr>
          </a:p>
        </p:txBody>
      </p:sp>
      <p:sp>
        <p:nvSpPr>
          <p:cNvPr id="131" name="Google Shape;131;p6"/>
          <p:cNvSpPr txBox="1"/>
          <p:nvPr/>
        </p:nvSpPr>
        <p:spPr>
          <a:xfrm>
            <a:off x="952800" y="3063200"/>
            <a:ext cx="5538900" cy="969600"/>
          </a:xfrm>
          <a:prstGeom prst="rect">
            <a:avLst/>
          </a:prstGeom>
          <a:noFill/>
          <a:ln>
            <a:noFill/>
          </a:ln>
        </p:spPr>
        <p:txBody>
          <a:bodyPr anchorCtr="0" anchor="t" bIns="91425" lIns="91425" spcFirstLastPara="1" rIns="91425" wrap="square" tIns="91425">
            <a:spAutoFit/>
          </a:bodyPr>
          <a:lstStyle/>
          <a:p>
            <a:pPr indent="-336550" lvl="0" marL="457200" marR="0" rtl="0" algn="just">
              <a:lnSpc>
                <a:spcPct val="100000"/>
              </a:lnSpc>
              <a:spcBef>
                <a:spcPts val="0"/>
              </a:spcBef>
              <a:spcAft>
                <a:spcPts val="0"/>
              </a:spcAft>
              <a:buClr>
                <a:srgbClr val="000000"/>
              </a:buClr>
              <a:buSzPts val="1700"/>
              <a:buFont typeface="Arial"/>
              <a:buAutoNum type="arabicPeriod"/>
            </a:pPr>
            <a:r>
              <a:rPr b="1" i="0" lang="es-MX" sz="1700" u="none" cap="none" strike="noStrike">
                <a:solidFill>
                  <a:srgbClr val="000000"/>
                </a:solidFill>
                <a:latin typeface="Arial"/>
                <a:ea typeface="Arial"/>
                <a:cs typeface="Arial"/>
                <a:sym typeface="Arial"/>
              </a:rPr>
              <a:t>Dataset original a nivel de registro: 331.787 filas × 28 columnas.</a:t>
            </a:r>
            <a:endParaRPr b="0" i="0" sz="1700" u="none" cap="none" strike="noStrike">
              <a:solidFill>
                <a:srgbClr val="000000"/>
              </a:solidFill>
              <a:latin typeface="Arial"/>
              <a:ea typeface="Arial"/>
              <a:cs typeface="Arial"/>
              <a:sym typeface="Arial"/>
            </a:endParaRPr>
          </a:p>
        </p:txBody>
      </p:sp>
      <p:sp>
        <p:nvSpPr>
          <p:cNvPr id="132" name="Google Shape;132;p6"/>
          <p:cNvSpPr txBox="1"/>
          <p:nvPr/>
        </p:nvSpPr>
        <p:spPr>
          <a:xfrm>
            <a:off x="1738075" y="3914559"/>
            <a:ext cx="4805700" cy="2016300"/>
          </a:xfrm>
          <a:prstGeom prst="rect">
            <a:avLst/>
          </a:prstGeom>
          <a:noFill/>
          <a:ln>
            <a:noFill/>
          </a:ln>
        </p:spPr>
        <p:txBody>
          <a:bodyPr anchorCtr="0" anchor="t" bIns="91425" lIns="91425" spcFirstLastPara="1" rIns="91425" wrap="square" tIns="91425">
            <a:spAutoFit/>
          </a:bodyPr>
          <a:lstStyle/>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Dataset original a nivel de registro: 331.787 filas × 28 columnas.</a:t>
            </a:r>
            <a:endParaRPr b="0" i="0" sz="1700" u="none" cap="none" strike="noStrike">
              <a:solidFill>
                <a:srgbClr val="000000"/>
              </a:solidFill>
              <a:latin typeface="Arial"/>
              <a:ea typeface="Arial"/>
              <a:cs typeface="Arial"/>
              <a:sym typeface="Arial"/>
            </a:endParaRPr>
          </a:p>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Columnas clave: matricula, ano, grado, codmat, nommat, nota (0.0–5.0), faltas, promovido (S/N), refuerzo.</a:t>
            </a:r>
            <a:endParaRPr b="0" i="0" sz="1700" u="none" cap="none" strike="noStrike">
              <a:solidFill>
                <a:srgbClr val="000000"/>
              </a:solidFill>
              <a:latin typeface="Arial"/>
              <a:ea typeface="Arial"/>
              <a:cs typeface="Arial"/>
              <a:sym typeface="Arial"/>
            </a:endParaRPr>
          </a:p>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0 valores nulos en el dataset limpio consolidado.</a:t>
            </a:r>
            <a:endParaRPr b="0" i="0" sz="1700" u="none" cap="none" strike="noStrike">
              <a:solidFill>
                <a:srgbClr val="000000"/>
              </a:solidFill>
              <a:latin typeface="Arial"/>
              <a:ea typeface="Arial"/>
              <a:cs typeface="Arial"/>
              <a:sym typeface="Arial"/>
            </a:endParaRPr>
          </a:p>
        </p:txBody>
      </p:sp>
      <p:pic>
        <p:nvPicPr>
          <p:cNvPr id="133" name="Google Shape;133;p6"/>
          <p:cNvPicPr preferRelativeResize="0"/>
          <p:nvPr/>
        </p:nvPicPr>
        <p:blipFill rotWithShape="1">
          <a:blip r:embed="rId4">
            <a:alphaModFix/>
          </a:blip>
          <a:srcRect b="0" l="0" r="0" t="0"/>
          <a:stretch/>
        </p:blipFill>
        <p:spPr>
          <a:xfrm>
            <a:off x="7458451" y="2701350"/>
            <a:ext cx="3242000" cy="316909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A screenshot of a computer&#10;&#10;Description automatically generated" id="138" name="Google Shape;138;g3772168264c_0_6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9" name="Google Shape;139;g3772168264c_0_68"/>
          <p:cNvSpPr txBox="1"/>
          <p:nvPr/>
        </p:nvSpPr>
        <p:spPr>
          <a:xfrm>
            <a:off x="2474015" y="1046752"/>
            <a:ext cx="69069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Recolección y Exploración de Datos</a:t>
            </a:r>
            <a:endParaRPr b="1" i="0" sz="3600" u="none" cap="none" strike="noStrike">
              <a:solidFill>
                <a:srgbClr val="242B5A"/>
              </a:solidFill>
              <a:latin typeface="Calibri"/>
              <a:ea typeface="Calibri"/>
              <a:cs typeface="Calibri"/>
              <a:sym typeface="Calibri"/>
            </a:endParaRPr>
          </a:p>
        </p:txBody>
      </p:sp>
      <p:sp>
        <p:nvSpPr>
          <p:cNvPr id="140" name="Google Shape;140;g3772168264c_0_68"/>
          <p:cNvSpPr txBox="1"/>
          <p:nvPr/>
        </p:nvSpPr>
        <p:spPr>
          <a:xfrm>
            <a:off x="1193600" y="1693250"/>
            <a:ext cx="8836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g3772168264c_0_68"/>
          <p:cNvSpPr txBox="1"/>
          <p:nvPr/>
        </p:nvSpPr>
        <p:spPr>
          <a:xfrm>
            <a:off x="522642" y="2429970"/>
            <a:ext cx="5612400" cy="969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700"/>
              <a:buFont typeface="Arial"/>
              <a:buNone/>
            </a:pPr>
            <a:r>
              <a:rPr b="1" i="0" lang="es-MX" sz="1700" u="none" cap="none" strike="noStrike">
                <a:solidFill>
                  <a:srgbClr val="000000"/>
                </a:solidFill>
                <a:latin typeface="Arial"/>
                <a:ea typeface="Arial"/>
                <a:cs typeface="Arial"/>
                <a:sym typeface="Arial"/>
              </a:rPr>
              <a:t>Dataset Regresión Logística: 5.341 registros × 36 columnas.</a:t>
            </a:r>
            <a:endParaRPr b="0" i="0" sz="17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700"/>
              <a:buFont typeface="Arial"/>
              <a:buNone/>
            </a:pPr>
            <a:r>
              <a:rPr b="0" i="0" lang="es-MX" sz="1700" u="none" cap="none" strike="noStrike">
                <a:solidFill>
                  <a:srgbClr val="000000"/>
                </a:solidFill>
                <a:latin typeface="Arial"/>
                <a:ea typeface="Arial"/>
                <a:cs typeface="Arial"/>
                <a:sym typeface="Arial"/>
              </a:rPr>
              <a:t>30 features de entrada (incl. promedios por área).</a:t>
            </a:r>
            <a:endParaRPr b="0" i="0" sz="1700" u="none" cap="none" strike="noStrike">
              <a:solidFill>
                <a:srgbClr val="000000"/>
              </a:solidFill>
              <a:latin typeface="Arial"/>
              <a:ea typeface="Arial"/>
              <a:cs typeface="Arial"/>
              <a:sym typeface="Arial"/>
            </a:endParaRPr>
          </a:p>
        </p:txBody>
      </p:sp>
      <p:sp>
        <p:nvSpPr>
          <p:cNvPr id="142" name="Google Shape;142;g3772168264c_0_68"/>
          <p:cNvSpPr txBox="1"/>
          <p:nvPr/>
        </p:nvSpPr>
        <p:spPr>
          <a:xfrm>
            <a:off x="1029125" y="3736085"/>
            <a:ext cx="4805700" cy="1754700"/>
          </a:xfrm>
          <a:prstGeom prst="rect">
            <a:avLst/>
          </a:prstGeom>
          <a:noFill/>
          <a:ln>
            <a:noFill/>
          </a:ln>
        </p:spPr>
        <p:txBody>
          <a:bodyPr anchorCtr="0" anchor="t" bIns="91425" lIns="91425" spcFirstLastPara="1" rIns="91425" wrap="square" tIns="91425">
            <a:spAutoFit/>
          </a:bodyPr>
          <a:lstStyle/>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Dataset Regresión Logística: 5.341 registros × 36 columnas.</a:t>
            </a:r>
            <a:endParaRPr b="0" i="0" sz="1700" u="none" cap="none" strike="noStrike">
              <a:solidFill>
                <a:srgbClr val="000000"/>
              </a:solidFill>
              <a:latin typeface="Arial"/>
              <a:ea typeface="Arial"/>
              <a:cs typeface="Arial"/>
              <a:sym typeface="Arial"/>
            </a:endParaRPr>
          </a:p>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30 features de entrada (incl. promedios por área).</a:t>
            </a:r>
            <a:endParaRPr b="0" i="0" sz="1700" u="none" cap="none" strike="noStrike">
              <a:solidFill>
                <a:srgbClr val="000000"/>
              </a:solidFill>
              <a:latin typeface="Arial"/>
              <a:ea typeface="Arial"/>
              <a:cs typeface="Arial"/>
              <a:sym typeface="Arial"/>
            </a:endParaRPr>
          </a:p>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Target: promovido_bin. Distribución: 74% aprobados / 26% reprobados.</a:t>
            </a:r>
            <a:endParaRPr b="0" i="0" sz="1700" u="none" cap="none" strike="noStrike">
              <a:solidFill>
                <a:srgbClr val="000000"/>
              </a:solidFill>
              <a:latin typeface="Arial"/>
              <a:ea typeface="Arial"/>
              <a:cs typeface="Arial"/>
              <a:sym typeface="Arial"/>
            </a:endParaRPr>
          </a:p>
        </p:txBody>
      </p:sp>
      <p:pic>
        <p:nvPicPr>
          <p:cNvPr id="143" name="Google Shape;143;g3772168264c_0_68"/>
          <p:cNvPicPr preferRelativeResize="0"/>
          <p:nvPr/>
        </p:nvPicPr>
        <p:blipFill rotWithShape="1">
          <a:blip r:embed="rId4">
            <a:alphaModFix/>
          </a:blip>
          <a:srcRect b="0" l="0" r="0" t="0"/>
          <a:stretch/>
        </p:blipFill>
        <p:spPr>
          <a:xfrm>
            <a:off x="6560300" y="2758322"/>
            <a:ext cx="5205900" cy="1976500"/>
          </a:xfrm>
          <a:prstGeom prst="rect">
            <a:avLst/>
          </a:prstGeom>
          <a:noFill/>
          <a:ln cap="flat" cmpd="sng" w="9525">
            <a:solidFill>
              <a:schemeClr val="dk2"/>
            </a:solidFill>
            <a:prstDash val="solid"/>
            <a:round/>
            <a:headEnd len="sm" w="sm" type="none"/>
            <a:tailEnd len="sm" w="sm" type="none"/>
          </a:ln>
        </p:spPr>
      </p:pic>
      <p:cxnSp>
        <p:nvCxnSpPr>
          <p:cNvPr id="144" name="Google Shape;144;g3772168264c_0_68"/>
          <p:cNvCxnSpPr/>
          <p:nvPr/>
        </p:nvCxnSpPr>
        <p:spPr>
          <a:xfrm flipH="1" rot="10800000">
            <a:off x="1164175" y="3736075"/>
            <a:ext cx="10392900" cy="21000"/>
          </a:xfrm>
          <a:prstGeom prst="straightConnector1">
            <a:avLst/>
          </a:prstGeom>
          <a:noFill/>
          <a:ln cap="flat" cmpd="sng" w="9525">
            <a:solidFill>
              <a:srgbClr val="D9D9D9"/>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A screenshot of a computer&#10;&#10;Description automatically generated" id="149" name="Google Shape;149;p7"/>
          <p:cNvPicPr preferRelativeResize="0"/>
          <p:nvPr/>
        </p:nvPicPr>
        <p:blipFill rotWithShape="1">
          <a:blip r:embed="rId3">
            <a:alphaModFix/>
          </a:blip>
          <a:srcRect b="0" l="0" r="0" t="0"/>
          <a:stretch/>
        </p:blipFill>
        <p:spPr>
          <a:xfrm>
            <a:off x="0" y="19050"/>
            <a:ext cx="12192000" cy="6858000"/>
          </a:xfrm>
          <a:prstGeom prst="rect">
            <a:avLst/>
          </a:prstGeom>
          <a:noFill/>
          <a:ln>
            <a:noFill/>
          </a:ln>
        </p:spPr>
      </p:pic>
      <p:sp>
        <p:nvSpPr>
          <p:cNvPr id="150" name="Google Shape;150;p7"/>
          <p:cNvSpPr txBox="1"/>
          <p:nvPr/>
        </p:nvSpPr>
        <p:spPr>
          <a:xfrm>
            <a:off x="2589606" y="788211"/>
            <a:ext cx="6660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Preparación o Limpieza de Datos</a:t>
            </a:r>
            <a:endParaRPr b="1" i="0" sz="3600" u="none" cap="none" strike="noStrike">
              <a:solidFill>
                <a:srgbClr val="242B5A"/>
              </a:solidFill>
              <a:latin typeface="Calibri"/>
              <a:ea typeface="Calibri"/>
              <a:cs typeface="Calibri"/>
              <a:sym typeface="Calibri"/>
            </a:endParaRPr>
          </a:p>
        </p:txBody>
      </p:sp>
      <p:sp>
        <p:nvSpPr>
          <p:cNvPr id="151" name="Google Shape;151;p7"/>
          <p:cNvSpPr txBox="1"/>
          <p:nvPr/>
        </p:nvSpPr>
        <p:spPr>
          <a:xfrm>
            <a:off x="1037175" y="1627700"/>
            <a:ext cx="7323600" cy="3324600"/>
          </a:xfrm>
          <a:prstGeom prst="rect">
            <a:avLst/>
          </a:prstGeom>
          <a:noFill/>
          <a:ln>
            <a:noFill/>
          </a:ln>
        </p:spPr>
        <p:txBody>
          <a:bodyPr anchorCtr="0" anchor="t" bIns="91425" lIns="91425" spcFirstLastPara="1" rIns="91425" wrap="square" tIns="91425">
            <a:spAutoFit/>
          </a:bodyPr>
          <a:lstStyle/>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Agregación por estudiante-año: 331.787 registros → 5.341 registros estudiante-año.</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Imputación de promedios por área nulos con promedio_nota del estudiante.</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Exclusión de áreas con cobertura &lt; 30% de estudiantes.</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División 80/20 con partición estratificada para preservar proporción aprobados/reprobados.</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Escalado StandardScaler aplicado a Regresión Lineal y Logística (NO al Árbol de Decisión).</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Balanceo class_weight='balanced' en modelos de clasificación.</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Dataset final: 3 archivos CSV + 1 Excel con 3 hojas. 0 nulos. 0 infinitos.</a:t>
            </a:r>
            <a:endParaRPr b="0" i="0" sz="1700" u="none" cap="none" strike="noStrike">
              <a:solidFill>
                <a:srgbClr val="000000"/>
              </a:solidFill>
              <a:latin typeface="Trebuchet MS"/>
              <a:ea typeface="Trebuchet MS"/>
              <a:cs typeface="Trebuchet MS"/>
              <a:sym typeface="Trebuchet MS"/>
            </a:endParaRPr>
          </a:p>
        </p:txBody>
      </p:sp>
      <p:pic>
        <p:nvPicPr>
          <p:cNvPr id="152" name="Google Shape;152;p7"/>
          <p:cNvPicPr preferRelativeResize="0"/>
          <p:nvPr/>
        </p:nvPicPr>
        <p:blipFill rotWithShape="1">
          <a:blip r:embed="rId4">
            <a:alphaModFix amt="72000"/>
          </a:blip>
          <a:srcRect b="0" l="0" r="0" t="0"/>
          <a:stretch/>
        </p:blipFill>
        <p:spPr>
          <a:xfrm>
            <a:off x="8773525" y="2055975"/>
            <a:ext cx="2875850" cy="2875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8" name="Google Shape;158;p8"/>
          <p:cNvSpPr txBox="1"/>
          <p:nvPr/>
        </p:nvSpPr>
        <p:spPr>
          <a:xfrm>
            <a:off x="2383681" y="1032174"/>
            <a:ext cx="685565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Visualización exploratoria de datos</a:t>
            </a:r>
            <a:endParaRPr b="1" i="0" sz="3600" u="none" cap="none" strike="noStrike">
              <a:solidFill>
                <a:srgbClr val="242B5A"/>
              </a:solidFill>
              <a:latin typeface="Calibri"/>
              <a:ea typeface="Calibri"/>
              <a:cs typeface="Calibri"/>
              <a:sym typeface="Calibri"/>
            </a:endParaRPr>
          </a:p>
        </p:txBody>
      </p:sp>
      <p:sp>
        <p:nvSpPr>
          <p:cNvPr id="159" name="Google Shape;159;p8"/>
          <p:cNvSpPr txBox="1"/>
          <p:nvPr/>
        </p:nvSpPr>
        <p:spPr>
          <a:xfrm>
            <a:off x="2461025" y="3699175"/>
            <a:ext cx="7198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MX" sz="1600" u="sng" cap="none" strike="noStrike">
                <a:solidFill>
                  <a:schemeClr val="hlink"/>
                </a:solidFill>
                <a:latin typeface="Arial"/>
                <a:ea typeface="Arial"/>
                <a:cs typeface="Arial"/>
                <a:sym typeface="Arial"/>
                <a:hlinkClick r:id="rId4"/>
              </a:rPr>
              <a:t>Aplicación Streamlit: https://share.streamlit.io/ (pendiente de despliegue)</a:t>
            </a:r>
            <a:endParaRPr b="0" i="0" sz="1600" u="none" cap="none" strike="noStrike">
              <a:solidFill>
                <a:srgbClr val="000000"/>
              </a:solidFill>
              <a:latin typeface="Arial"/>
              <a:ea typeface="Arial"/>
              <a:cs typeface="Arial"/>
              <a:sym typeface="Arial"/>
            </a:endParaRPr>
          </a:p>
        </p:txBody>
      </p:sp>
      <p:sp>
        <p:nvSpPr>
          <p:cNvPr id="160" name="Google Shape;160;p8"/>
          <p:cNvSpPr txBox="1"/>
          <p:nvPr/>
        </p:nvSpPr>
        <p:spPr>
          <a:xfrm>
            <a:off x="2461018" y="2067199"/>
            <a:ext cx="6855600" cy="113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s-MX" sz="3400" u="none" cap="none" strike="noStrike">
                <a:solidFill>
                  <a:srgbClr val="242B5A"/>
                </a:solidFill>
                <a:latin typeface="Calibri"/>
                <a:ea typeface="Calibri"/>
                <a:cs typeface="Calibri"/>
                <a:sym typeface="Calibri"/>
              </a:rPr>
              <a:t>Dashboard Streamlit — Pestaña EDA Interactiva:</a:t>
            </a:r>
            <a:endParaRPr b="1" i="0" sz="3400" u="none" cap="none" strike="noStrike">
              <a:solidFill>
                <a:srgbClr val="242B5A"/>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1. Distribucion Promedio Notas</a:t>
            </a:r>
          </a:p>
        </p:txBody>
      </p:sp>
      <p:pic>
        <p:nvPicPr>
          <p:cNvPr id="201" name="Figura 201"/>
          <p:cNvPicPr>
            <a:picLocks noChangeAspect="1"/>
          </p:cNvPicPr>
          <p:nvPr/>
        </p:nvPicPr>
        <p:blipFill>
          <a:blip r:embed="rId4"/>
          <a:stretch>
            <a:fillRect/>
          </a:stretch>
        </p:blipFill>
        <p:spPr>
          <a:xfrm>
            <a:off x="3303867" y="1250000"/>
            <a:ext cx="5584266" cy="4300000"/>
          </a:xfrm>
          <a:prstGeom prst="rect">
            <a:avLst/>
          </a:prstGeom>
        </p:spPr>
      </p:pic>
      <p:sp>
        <p:nvSpPr>
          <p:cNvPr id="301"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Distribución del promedio de notas de los estudiantes. Muestra la concentración principal entre 3.0 y 4.0, junto con casos de bajo rendimiento relevantes para la alerta temprana.</a:t>
            </a:r>
          </a:p>
        </p:txBody>
      </p:sp>
      <p:sp>
        <p:nvSpPr>
          <p:cNvPr id="302" name="TextBox 301"/>
          <p:cNvSpPr txBox="1"/>
          <p:nvPr/>
        </p:nvSpPr>
        <p:spPr>
          <a:xfrm>
            <a:off x="731520" y="5580000"/>
            <a:ext cx="10728960" cy="660780"/>
          </a:xfrm>
          <a:prstGeom prst="rect">
            <a:avLst/>
          </a:prstGeom>
          <a:noFill/>
        </p:spPr>
        <p:txBody>
          <a:bodyPr wrap="square">
            <a:spAutoFit/>
          </a:bodyPr>
          <a:lstStyle/>
          <a:p>
            <a:pPr algn="l"/>
            <a:r>
              <a:rPr sz="1000">
                <a:solidFill>
                  <a:srgbClr val="333333"/>
                </a:solidFill>
              </a:rPr>
              <a:t>Distribución del promedio de notas de los estudiantes. La figura muestra la concentración principal entre 3.0 y 4.0, con casos de bajo rendimiento que ayudan a identificar población en riesgo académico.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2"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2. Boxplot</a:t>
            </a:r>
          </a:p>
        </p:txBody>
      </p:sp>
      <p:pic>
        <p:nvPicPr>
          <p:cNvPr id="202" name="Figura 202"/>
          <p:cNvPicPr>
            <a:picLocks noChangeAspect="1"/>
          </p:cNvPicPr>
          <p:nvPr/>
        </p:nvPicPr>
        <p:blipFill>
          <a:blip r:embed="rId4"/>
          <a:stretch>
            <a:fillRect/>
          </a:stretch>
        </p:blipFill>
        <p:spPr>
          <a:xfrm>
            <a:off x="3271490" y="1250000"/>
            <a:ext cx="5649019" cy="4300000"/>
          </a:xfrm>
          <a:prstGeom prst="rect">
            <a:avLst/>
          </a:prstGeom>
        </p:spPr>
      </p:pic>
      <p:sp>
        <p:nvSpPr>
          <p:cNvPr id="302"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Boxplot del promedio de notas. Permite observar mediana, dispersión y posibles valores atípicos del rendimiento académico general.</a:t>
            </a:r>
          </a:p>
        </p:txBody>
      </p:sp>
      <p:sp>
        <p:nvSpPr>
          <p:cNvPr id="303" name="TextBox 302"/>
          <p:cNvSpPr txBox="1"/>
          <p:nvPr/>
        </p:nvSpPr>
        <p:spPr>
          <a:xfrm>
            <a:off x="731520" y="5580000"/>
            <a:ext cx="10728960" cy="660780"/>
          </a:xfrm>
          <a:prstGeom prst="rect">
            <a:avLst/>
          </a:prstGeom>
          <a:noFill/>
        </p:spPr>
        <p:txBody>
          <a:bodyPr wrap="square">
            <a:spAutoFit/>
          </a:bodyPr>
          <a:lstStyle/>
          <a:p>
            <a:pPr algn="l"/>
            <a:r>
              <a:rPr sz="1000">
                <a:solidFill>
                  <a:srgbClr val="333333"/>
                </a:solidFill>
              </a:rPr>
              <a:t>Boxplot del promedio de notas. Permite observar la mediana, la dispersión y posibles valores atípicos en el rendimiento académico general.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3"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3. Violin Plot</a:t>
            </a:r>
          </a:p>
        </p:txBody>
      </p:sp>
      <p:pic>
        <p:nvPicPr>
          <p:cNvPr id="203" name="Figura 203"/>
          <p:cNvPicPr>
            <a:picLocks noChangeAspect="1"/>
          </p:cNvPicPr>
          <p:nvPr/>
        </p:nvPicPr>
        <p:blipFill>
          <a:blip r:embed="rId4"/>
          <a:stretch>
            <a:fillRect/>
          </a:stretch>
        </p:blipFill>
        <p:spPr>
          <a:xfrm>
            <a:off x="3212471" y="1250000"/>
            <a:ext cx="5767058" cy="4300000"/>
          </a:xfrm>
          <a:prstGeom prst="rect">
            <a:avLst/>
          </a:prstGeom>
        </p:spPr>
      </p:pic>
      <p:sp>
        <p:nvSpPr>
          <p:cNvPr id="303"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Violin plot del promedio de notas. Complementa la lectura de distribución al mostrar densidad y variabilidad del desempeño estudiantil.</a:t>
            </a:r>
          </a:p>
        </p:txBody>
      </p:sp>
      <p:sp>
        <p:nvSpPr>
          <p:cNvPr id="304" name="TextBox 303"/>
          <p:cNvSpPr txBox="1"/>
          <p:nvPr/>
        </p:nvSpPr>
        <p:spPr>
          <a:xfrm>
            <a:off x="731520" y="5580000"/>
            <a:ext cx="10728960" cy="660780"/>
          </a:xfrm>
          <a:prstGeom prst="rect">
            <a:avLst/>
          </a:prstGeom>
          <a:noFill/>
        </p:spPr>
        <p:txBody>
          <a:bodyPr wrap="square">
            <a:spAutoFit/>
          </a:bodyPr>
          <a:lstStyle/>
          <a:p>
            <a:pPr algn="l"/>
            <a:r>
              <a:rPr sz="1000">
                <a:solidFill>
                  <a:srgbClr val="333333"/>
                </a:solidFill>
              </a:rPr>
              <a:t>Violin plot del promedio de notas. Complementa la lectura de distribución al mostrar densidad, concentración de resultados y variabilidad del desempeño estudiantil.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4"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4. Distribucion Promocion</a:t>
            </a:r>
          </a:p>
        </p:txBody>
      </p:sp>
      <p:pic>
        <p:nvPicPr>
          <p:cNvPr id="204" name="Figura 204"/>
          <p:cNvPicPr>
            <a:picLocks noChangeAspect="1"/>
          </p:cNvPicPr>
          <p:nvPr/>
        </p:nvPicPr>
        <p:blipFill>
          <a:blip r:embed="rId4"/>
          <a:stretch>
            <a:fillRect/>
          </a:stretch>
        </p:blipFill>
        <p:spPr>
          <a:xfrm>
            <a:off x="3226372" y="1250000"/>
            <a:ext cx="5739256" cy="4300000"/>
          </a:xfrm>
          <a:prstGeom prst="rect">
            <a:avLst/>
          </a:prstGeom>
        </p:spPr>
      </p:pic>
      <p:sp>
        <p:nvSpPr>
          <p:cNvPr id="304"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Distribución de la variable de promoción. Evidencia el desbalance entre estudiantes promovidos y no promovidos.</a:t>
            </a:r>
          </a:p>
        </p:txBody>
      </p:sp>
      <p:sp>
        <p:nvSpPr>
          <p:cNvPr id="305" name="TextBox 304"/>
          <p:cNvSpPr txBox="1"/>
          <p:nvPr/>
        </p:nvSpPr>
        <p:spPr>
          <a:xfrm>
            <a:off x="731520" y="5580000"/>
            <a:ext cx="10728960" cy="660780"/>
          </a:xfrm>
          <a:prstGeom prst="rect">
            <a:avLst/>
          </a:prstGeom>
          <a:noFill/>
        </p:spPr>
        <p:txBody>
          <a:bodyPr wrap="square">
            <a:spAutoFit/>
          </a:bodyPr>
          <a:lstStyle/>
          <a:p>
            <a:pPr algn="l"/>
            <a:r>
              <a:rPr sz="1000">
                <a:solidFill>
                  <a:srgbClr val="333333"/>
                </a:solidFill>
              </a:rPr>
              <a:t>Distribución de la variable de promoción. Evidencia el desbalance entre estudiantes promovidos y no promovidos, una consideración clave para los modelos de clasificación.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5"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5. Proporcion Promocion</a:t>
            </a:r>
          </a:p>
        </p:txBody>
      </p:sp>
      <p:pic>
        <p:nvPicPr>
          <p:cNvPr id="205" name="Figura 205"/>
          <p:cNvPicPr>
            <a:picLocks noChangeAspect="1"/>
          </p:cNvPicPr>
          <p:nvPr/>
        </p:nvPicPr>
        <p:blipFill>
          <a:blip r:embed="rId4"/>
          <a:stretch>
            <a:fillRect/>
          </a:stretch>
        </p:blipFill>
        <p:spPr>
          <a:xfrm>
            <a:off x="3396448" y="1250000"/>
            <a:ext cx="5399103" cy="4300000"/>
          </a:xfrm>
          <a:prstGeom prst="rect">
            <a:avLst/>
          </a:prstGeom>
        </p:spPr>
      </p:pic>
      <p:sp>
        <p:nvSpPr>
          <p:cNvPr id="305"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Proporción de estudiantes promovidos y no promovidos. Resume visualmente la relación entre aprobación y reprobación en el conjunto de datos.</a:t>
            </a:r>
          </a:p>
        </p:txBody>
      </p:sp>
      <p:sp>
        <p:nvSpPr>
          <p:cNvPr id="306" name="TextBox 305"/>
          <p:cNvSpPr txBox="1"/>
          <p:nvPr/>
        </p:nvSpPr>
        <p:spPr>
          <a:xfrm>
            <a:off x="731520" y="5580000"/>
            <a:ext cx="10728960" cy="660780"/>
          </a:xfrm>
          <a:prstGeom prst="rect">
            <a:avLst/>
          </a:prstGeom>
          <a:noFill/>
        </p:spPr>
        <p:txBody>
          <a:bodyPr wrap="square">
            <a:spAutoFit/>
          </a:bodyPr>
          <a:lstStyle/>
          <a:p>
            <a:pPr algn="l"/>
            <a:r>
              <a:rPr sz="1000">
                <a:solidFill>
                  <a:srgbClr val="333333"/>
                </a:solidFill>
              </a:rPr>
              <a:t>Proporción de estudiantes promovidos y no promovidos. Resume visualmente la relación aproximada entre aprobación y reprobación en el conjunto de datos.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6"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6. Estudiantes Por Grado</a:t>
            </a:r>
          </a:p>
        </p:txBody>
      </p:sp>
      <p:pic>
        <p:nvPicPr>
          <p:cNvPr id="206" name="Figura 206"/>
          <p:cNvPicPr>
            <a:picLocks noChangeAspect="1"/>
          </p:cNvPicPr>
          <p:nvPr/>
        </p:nvPicPr>
        <p:blipFill>
          <a:blip r:embed="rId4"/>
          <a:stretch>
            <a:fillRect/>
          </a:stretch>
        </p:blipFill>
        <p:spPr>
          <a:xfrm>
            <a:off x="2893490" y="1250000"/>
            <a:ext cx="6405020" cy="4300000"/>
          </a:xfrm>
          <a:prstGeom prst="rect">
            <a:avLst/>
          </a:prstGeom>
        </p:spPr>
      </p:pic>
      <p:sp>
        <p:nvSpPr>
          <p:cNvPr id="306"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Cantidad de estudiantes por grado. Identifica la concentración de matrícula por nivel de secundaria.</a:t>
            </a:r>
          </a:p>
        </p:txBody>
      </p:sp>
      <p:sp>
        <p:nvSpPr>
          <p:cNvPr id="307" name="TextBox 306"/>
          <p:cNvSpPr txBox="1"/>
          <p:nvPr/>
        </p:nvSpPr>
        <p:spPr>
          <a:xfrm>
            <a:off x="731520" y="5580000"/>
            <a:ext cx="10728960" cy="660780"/>
          </a:xfrm>
          <a:prstGeom prst="rect">
            <a:avLst/>
          </a:prstGeom>
          <a:noFill/>
        </p:spPr>
        <p:txBody>
          <a:bodyPr wrap="square">
            <a:spAutoFit/>
          </a:bodyPr>
          <a:lstStyle/>
          <a:p>
            <a:pPr algn="l"/>
            <a:r>
              <a:rPr sz="1000">
                <a:solidFill>
                  <a:srgbClr val="333333"/>
                </a:solidFill>
              </a:rPr>
              <a:t>Cantidad de estudiantes por grado. Permite identificar la concentración de matrícula en los niveles de secundaria y comparar el tamaño relativo de cada grado.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7"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7. Promedio Notas Por Grado</a:t>
            </a:r>
          </a:p>
        </p:txBody>
      </p:sp>
      <p:pic>
        <p:nvPicPr>
          <p:cNvPr id="207" name="Figura 207"/>
          <p:cNvPicPr>
            <a:picLocks noChangeAspect="1"/>
          </p:cNvPicPr>
          <p:nvPr/>
        </p:nvPicPr>
        <p:blipFill>
          <a:blip r:embed="rId4"/>
          <a:stretch>
            <a:fillRect/>
          </a:stretch>
        </p:blipFill>
        <p:spPr>
          <a:xfrm>
            <a:off x="3023938" y="1250000"/>
            <a:ext cx="6144123" cy="4300000"/>
          </a:xfrm>
          <a:prstGeom prst="rect">
            <a:avLst/>
          </a:prstGeom>
        </p:spPr>
      </p:pic>
      <p:sp>
        <p:nvSpPr>
          <p:cNvPr id="307"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Promedio de notas por grado. Muestra diferencias de rendimiento entre grados y ayuda a focalizar seguimiento académico.</a:t>
            </a:r>
          </a:p>
        </p:txBody>
      </p:sp>
      <p:sp>
        <p:nvSpPr>
          <p:cNvPr id="308" name="TextBox 307"/>
          <p:cNvSpPr txBox="1"/>
          <p:nvPr/>
        </p:nvSpPr>
        <p:spPr>
          <a:xfrm>
            <a:off x="731520" y="5580000"/>
            <a:ext cx="10728960" cy="660780"/>
          </a:xfrm>
          <a:prstGeom prst="rect">
            <a:avLst/>
          </a:prstGeom>
          <a:noFill/>
        </p:spPr>
        <p:txBody>
          <a:bodyPr wrap="square">
            <a:spAutoFit/>
          </a:bodyPr>
          <a:lstStyle/>
          <a:p>
            <a:pPr algn="l"/>
            <a:r>
              <a:rPr sz="1000">
                <a:solidFill>
                  <a:srgbClr val="333333"/>
                </a:solidFill>
              </a:rPr>
              <a:t>Promedio de notas por grado. Muestra diferencias de rendimiento entre grados y ayuda a detectar niveles donde se requiere mayor seguimiento académico.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8"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8. Evolucion Promedio Notas</a:t>
            </a:r>
          </a:p>
        </p:txBody>
      </p:sp>
      <p:pic>
        <p:nvPicPr>
          <p:cNvPr id="208" name="Figura 208"/>
          <p:cNvPicPr>
            <a:picLocks noChangeAspect="1"/>
          </p:cNvPicPr>
          <p:nvPr/>
        </p:nvPicPr>
        <p:blipFill>
          <a:blip r:embed="rId4"/>
          <a:stretch>
            <a:fillRect/>
          </a:stretch>
        </p:blipFill>
        <p:spPr>
          <a:xfrm>
            <a:off x="3274836" y="1250000"/>
            <a:ext cx="5642328" cy="4300000"/>
          </a:xfrm>
          <a:prstGeom prst="rect">
            <a:avLst/>
          </a:prstGeom>
        </p:spPr>
      </p:pic>
      <p:sp>
        <p:nvSpPr>
          <p:cNvPr id="308"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Evolución anual del promedio de notas. Presenta la tendencia del rendimiento académico durante el periodo 2015-2024.</a:t>
            </a:r>
          </a:p>
        </p:txBody>
      </p:sp>
      <p:sp>
        <p:nvSpPr>
          <p:cNvPr id="309" name="TextBox 308"/>
          <p:cNvSpPr txBox="1"/>
          <p:nvPr/>
        </p:nvSpPr>
        <p:spPr>
          <a:xfrm>
            <a:off x="731520" y="5580000"/>
            <a:ext cx="10728960" cy="660780"/>
          </a:xfrm>
          <a:prstGeom prst="rect">
            <a:avLst/>
          </a:prstGeom>
          <a:noFill/>
        </p:spPr>
        <p:txBody>
          <a:bodyPr wrap="square">
            <a:spAutoFit/>
          </a:bodyPr>
          <a:lstStyle/>
          <a:p>
            <a:pPr algn="l"/>
            <a:r>
              <a:rPr sz="1000">
                <a:solidFill>
                  <a:srgbClr val="333333"/>
                </a:solidFill>
              </a:rPr>
              <a:t>Evolución anual del promedio de notas. Presenta la tendencia del rendimiento académico durante el período 2015-2024.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9"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9. Evolucion Tasa Promocion</a:t>
            </a:r>
          </a:p>
        </p:txBody>
      </p:sp>
      <p:pic>
        <p:nvPicPr>
          <p:cNvPr id="209" name="Figura 209"/>
          <p:cNvPicPr>
            <a:picLocks noChangeAspect="1"/>
          </p:cNvPicPr>
          <p:nvPr/>
        </p:nvPicPr>
        <p:blipFill>
          <a:blip r:embed="rId4"/>
          <a:stretch>
            <a:fillRect/>
          </a:stretch>
        </p:blipFill>
        <p:spPr>
          <a:xfrm>
            <a:off x="3451159" y="1250000"/>
            <a:ext cx="5289682" cy="4300000"/>
          </a:xfrm>
          <a:prstGeom prst="rect">
            <a:avLst/>
          </a:prstGeom>
        </p:spPr>
      </p:pic>
      <p:sp>
        <p:nvSpPr>
          <p:cNvPr id="309"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Evolución anual de la tasa de promoción. Permite observar estabilidad o variación del porcentaje de estudiantes promovidos.</a:t>
            </a:r>
          </a:p>
        </p:txBody>
      </p:sp>
      <p:sp>
        <p:nvSpPr>
          <p:cNvPr id="310" name="TextBox 309"/>
          <p:cNvSpPr txBox="1"/>
          <p:nvPr/>
        </p:nvSpPr>
        <p:spPr>
          <a:xfrm>
            <a:off x="731520" y="5580000"/>
            <a:ext cx="10728960" cy="660780"/>
          </a:xfrm>
          <a:prstGeom prst="rect">
            <a:avLst/>
          </a:prstGeom>
          <a:noFill/>
        </p:spPr>
        <p:txBody>
          <a:bodyPr wrap="square">
            <a:spAutoFit/>
          </a:bodyPr>
          <a:lstStyle/>
          <a:p>
            <a:pPr algn="l"/>
            <a:r>
              <a:rPr sz="1000">
                <a:solidFill>
                  <a:srgbClr val="333333"/>
                </a:solidFill>
              </a:rPr>
              <a:t>Evolución anual de la tasa de promoción. Permite observar la estabilidad o variación del porcentaje de estudiantes promovidos a través del tiempo.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0"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10. Estudiantes Por Año</a:t>
            </a:r>
          </a:p>
        </p:txBody>
      </p:sp>
      <p:pic>
        <p:nvPicPr>
          <p:cNvPr id="210" name="Figura 210"/>
          <p:cNvPicPr>
            <a:picLocks noChangeAspect="1"/>
          </p:cNvPicPr>
          <p:nvPr/>
        </p:nvPicPr>
        <p:blipFill>
          <a:blip r:embed="rId4"/>
          <a:stretch>
            <a:fillRect/>
          </a:stretch>
        </p:blipFill>
        <p:spPr>
          <a:xfrm>
            <a:off x="3452464" y="1250000"/>
            <a:ext cx="5287071" cy="4300000"/>
          </a:xfrm>
          <a:prstGeom prst="rect">
            <a:avLst/>
          </a:prstGeom>
        </p:spPr>
      </p:pic>
      <p:sp>
        <p:nvSpPr>
          <p:cNvPr id="310"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Cantidad de estudiantes por año. Contextualiza el volumen de registros anuales usados en el análisis exploratorio.</a:t>
            </a:r>
          </a:p>
        </p:txBody>
      </p:sp>
      <p:sp>
        <p:nvSpPr>
          <p:cNvPr id="311" name="TextBox 310"/>
          <p:cNvSpPr txBox="1"/>
          <p:nvPr/>
        </p:nvSpPr>
        <p:spPr>
          <a:xfrm>
            <a:off x="731520" y="5580000"/>
            <a:ext cx="10728960" cy="660780"/>
          </a:xfrm>
          <a:prstGeom prst="rect">
            <a:avLst/>
          </a:prstGeom>
          <a:noFill/>
        </p:spPr>
        <p:txBody>
          <a:bodyPr wrap="square">
            <a:spAutoFit/>
          </a:bodyPr>
          <a:lstStyle/>
          <a:p>
            <a:pPr algn="l"/>
            <a:r>
              <a:rPr sz="1000">
                <a:solidFill>
                  <a:srgbClr val="333333"/>
                </a:solidFill>
              </a:rPr>
              <a:t>Cantidad de estudiantes por año. Sirve para contextualizar el volumen de registros anuales utilizados en el análisis exploratorio.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1"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11. Matriz De Correlacion Variable Numericas</a:t>
            </a:r>
          </a:p>
        </p:txBody>
      </p:sp>
      <p:pic>
        <p:nvPicPr>
          <p:cNvPr id="211" name="Figura 211"/>
          <p:cNvPicPr>
            <a:picLocks noChangeAspect="1"/>
          </p:cNvPicPr>
          <p:nvPr/>
        </p:nvPicPr>
        <p:blipFill>
          <a:blip r:embed="rId4"/>
          <a:stretch>
            <a:fillRect/>
          </a:stretch>
        </p:blipFill>
        <p:spPr>
          <a:xfrm>
            <a:off x="3669986" y="1250000"/>
            <a:ext cx="4852027" cy="4300000"/>
          </a:xfrm>
          <a:prstGeom prst="rect">
            <a:avLst/>
          </a:prstGeom>
        </p:spPr>
      </p:pic>
      <p:sp>
        <p:nvSpPr>
          <p:cNvPr id="311"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Matriz de correlación de variables numéricas. Identifica relaciones lineales entre variables académicas y posibles multicolinealidades.</a:t>
            </a:r>
          </a:p>
        </p:txBody>
      </p:sp>
      <p:sp>
        <p:nvSpPr>
          <p:cNvPr id="312" name="TextBox 311"/>
          <p:cNvSpPr txBox="1"/>
          <p:nvPr/>
        </p:nvSpPr>
        <p:spPr>
          <a:xfrm>
            <a:off x="731520" y="5580000"/>
            <a:ext cx="10728960" cy="660780"/>
          </a:xfrm>
          <a:prstGeom prst="rect">
            <a:avLst/>
          </a:prstGeom>
          <a:noFill/>
        </p:spPr>
        <p:txBody>
          <a:bodyPr wrap="square">
            <a:spAutoFit/>
          </a:bodyPr>
          <a:lstStyle/>
          <a:p>
            <a:pPr algn="l"/>
            <a:r>
              <a:rPr sz="1000">
                <a:solidFill>
                  <a:srgbClr val="333333"/>
                </a:solidFill>
              </a:rPr>
              <a:t>Matriz de correlación de variables numéricas. Identifica relaciones lineales entre variables académicas y posibles señales de multicolinealidad.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2"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12. Matriz De Correlacion Promedio Notas Target</a:t>
            </a:r>
          </a:p>
        </p:txBody>
      </p:sp>
      <p:pic>
        <p:nvPicPr>
          <p:cNvPr id="212" name="Figura 212"/>
          <p:cNvPicPr>
            <a:picLocks noChangeAspect="1"/>
          </p:cNvPicPr>
          <p:nvPr/>
        </p:nvPicPr>
        <p:blipFill>
          <a:blip r:embed="rId4"/>
          <a:stretch>
            <a:fillRect/>
          </a:stretch>
        </p:blipFill>
        <p:spPr>
          <a:xfrm>
            <a:off x="1737096" y="1250000"/>
            <a:ext cx="8717808" cy="4300000"/>
          </a:xfrm>
          <a:prstGeom prst="rect">
            <a:avLst/>
          </a:prstGeom>
        </p:spPr>
      </p:pic>
      <p:sp>
        <p:nvSpPr>
          <p:cNvPr id="312"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Correlación de variables numéricas con el promedio de notas. Destaca las variables más asociadas al rendimiento global.</a:t>
            </a:r>
          </a:p>
        </p:txBody>
      </p:sp>
      <p:sp>
        <p:nvSpPr>
          <p:cNvPr id="313" name="TextBox 312"/>
          <p:cNvSpPr txBox="1"/>
          <p:nvPr/>
        </p:nvSpPr>
        <p:spPr>
          <a:xfrm>
            <a:off x="731520" y="5580000"/>
            <a:ext cx="10728960" cy="660780"/>
          </a:xfrm>
          <a:prstGeom prst="rect">
            <a:avLst/>
          </a:prstGeom>
          <a:noFill/>
        </p:spPr>
        <p:txBody>
          <a:bodyPr wrap="square">
            <a:spAutoFit/>
          </a:bodyPr>
          <a:lstStyle/>
          <a:p>
            <a:pPr algn="l"/>
            <a:r>
              <a:rPr sz="1000">
                <a:solidFill>
                  <a:srgbClr val="333333"/>
                </a:solidFill>
              </a:rPr>
              <a:t>Correlación de variables numéricas con el promedio de notas. Destaca las variables más asociadas al rendimiento académico global.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3"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13. Intensidad Vs Promedio</a:t>
            </a:r>
          </a:p>
        </p:txBody>
      </p:sp>
      <p:pic>
        <p:nvPicPr>
          <p:cNvPr id="213" name="Figura 213"/>
          <p:cNvPicPr>
            <a:picLocks noChangeAspect="1"/>
          </p:cNvPicPr>
          <p:nvPr/>
        </p:nvPicPr>
        <p:blipFill>
          <a:blip r:embed="rId4"/>
          <a:stretch>
            <a:fillRect/>
          </a:stretch>
        </p:blipFill>
        <p:spPr>
          <a:xfrm>
            <a:off x="3461252" y="1250000"/>
            <a:ext cx="5269496" cy="4300000"/>
          </a:xfrm>
          <a:prstGeom prst="rect">
            <a:avLst/>
          </a:prstGeom>
        </p:spPr>
      </p:pic>
      <p:sp>
        <p:nvSpPr>
          <p:cNvPr id="313"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Relación entre intensidad e indicador de promedio. Explora cambios del desempeño académico frente a niveles de intensidad o carga asociada.</a:t>
            </a:r>
          </a:p>
        </p:txBody>
      </p:sp>
      <p:sp>
        <p:nvSpPr>
          <p:cNvPr id="314" name="TextBox 313"/>
          <p:cNvSpPr txBox="1"/>
          <p:nvPr/>
        </p:nvSpPr>
        <p:spPr>
          <a:xfrm>
            <a:off x="731520" y="5580000"/>
            <a:ext cx="10728960" cy="660780"/>
          </a:xfrm>
          <a:prstGeom prst="rect">
            <a:avLst/>
          </a:prstGeom>
          <a:noFill/>
        </p:spPr>
        <p:txBody>
          <a:bodyPr wrap="square">
            <a:spAutoFit/>
          </a:bodyPr>
          <a:lstStyle/>
          <a:p>
            <a:pPr algn="l"/>
            <a:r>
              <a:rPr sz="1000">
                <a:solidFill>
                  <a:srgbClr val="333333"/>
                </a:solidFill>
              </a:rPr>
              <a:t>Relación entre intensidad e indicador de promedio. Explora cómo cambia el desempeño académico frente a niveles de intensidad o carga asociada.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4"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14. Intensidad Horaria Vs Promedio</a:t>
            </a:r>
          </a:p>
        </p:txBody>
      </p:sp>
      <p:pic>
        <p:nvPicPr>
          <p:cNvPr id="214" name="Figura 214"/>
          <p:cNvPicPr>
            <a:picLocks noChangeAspect="1"/>
          </p:cNvPicPr>
          <p:nvPr/>
        </p:nvPicPr>
        <p:blipFill>
          <a:blip r:embed="rId4"/>
          <a:stretch>
            <a:fillRect/>
          </a:stretch>
        </p:blipFill>
        <p:spPr>
          <a:xfrm>
            <a:off x="3471325" y="1250000"/>
            <a:ext cx="5249350" cy="4300000"/>
          </a:xfrm>
          <a:prstGeom prst="rect">
            <a:avLst/>
          </a:prstGeom>
        </p:spPr>
      </p:pic>
      <p:sp>
        <p:nvSpPr>
          <p:cNvPr id="314"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Relación entre intensidad horaria y promedio de notas. Evalúa si la carga horaria se asocia con variaciones en el rendimiento.</a:t>
            </a:r>
          </a:p>
        </p:txBody>
      </p:sp>
      <p:sp>
        <p:nvSpPr>
          <p:cNvPr id="315" name="TextBox 314"/>
          <p:cNvSpPr txBox="1"/>
          <p:nvPr/>
        </p:nvSpPr>
        <p:spPr>
          <a:xfrm>
            <a:off x="731520" y="5580000"/>
            <a:ext cx="10728960" cy="660780"/>
          </a:xfrm>
          <a:prstGeom prst="rect">
            <a:avLst/>
          </a:prstGeom>
          <a:noFill/>
        </p:spPr>
        <p:txBody>
          <a:bodyPr wrap="square">
            <a:spAutoFit/>
          </a:bodyPr>
          <a:lstStyle/>
          <a:p>
            <a:pPr algn="l"/>
            <a:r>
              <a:rPr sz="1000">
                <a:solidFill>
                  <a:srgbClr val="333333"/>
                </a:solidFill>
              </a:rPr>
              <a:t>Relación entre intensidad horaria y promedio de notas. Ayuda a evaluar si la carga horaria se asocia con variaciones en el rendimiento.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5"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15. Distribucion Promedios Por Area Del Saber</a:t>
            </a:r>
          </a:p>
        </p:txBody>
      </p:sp>
      <p:pic>
        <p:nvPicPr>
          <p:cNvPr id="215" name="Figura 215"/>
          <p:cNvPicPr>
            <a:picLocks noChangeAspect="1"/>
          </p:cNvPicPr>
          <p:nvPr/>
        </p:nvPicPr>
        <p:blipFill>
          <a:blip r:embed="rId4"/>
          <a:stretch>
            <a:fillRect/>
          </a:stretch>
        </p:blipFill>
        <p:spPr>
          <a:xfrm>
            <a:off x="1000795" y="1250000"/>
            <a:ext cx="10190410" cy="4300000"/>
          </a:xfrm>
          <a:prstGeom prst="rect">
            <a:avLst/>
          </a:prstGeom>
        </p:spPr>
      </p:pic>
      <p:sp>
        <p:nvSpPr>
          <p:cNvPr id="315"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Distribución de promedios por área del saber. Compara tendencia central y dispersión de notas entre áreas académicas.</a:t>
            </a:r>
          </a:p>
        </p:txBody>
      </p:sp>
      <p:sp>
        <p:nvSpPr>
          <p:cNvPr id="316" name="TextBox 315"/>
          <p:cNvSpPr txBox="1"/>
          <p:nvPr/>
        </p:nvSpPr>
        <p:spPr>
          <a:xfrm>
            <a:off x="731520" y="5580000"/>
            <a:ext cx="10728960" cy="660780"/>
          </a:xfrm>
          <a:prstGeom prst="rect">
            <a:avLst/>
          </a:prstGeom>
          <a:noFill/>
        </p:spPr>
        <p:txBody>
          <a:bodyPr wrap="square">
            <a:spAutoFit/>
          </a:bodyPr>
          <a:lstStyle/>
          <a:p>
            <a:pPr algn="l"/>
            <a:r>
              <a:rPr sz="1000">
                <a:solidFill>
                  <a:srgbClr val="333333"/>
                </a:solidFill>
              </a:rPr>
              <a:t>Distribución de promedios por área del saber. Compara la tendencia central y dispersión de las notas entre áreas académicas.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6"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16. Estudiantes Por Cohorte</a:t>
            </a:r>
          </a:p>
        </p:txBody>
      </p:sp>
      <p:pic>
        <p:nvPicPr>
          <p:cNvPr id="216" name="Figura 216"/>
          <p:cNvPicPr>
            <a:picLocks noChangeAspect="1"/>
          </p:cNvPicPr>
          <p:nvPr/>
        </p:nvPicPr>
        <p:blipFill>
          <a:blip r:embed="rId4"/>
          <a:stretch>
            <a:fillRect/>
          </a:stretch>
        </p:blipFill>
        <p:spPr>
          <a:xfrm>
            <a:off x="946000" y="1250000"/>
            <a:ext cx="10300000" cy="3367863"/>
          </a:xfrm>
          <a:prstGeom prst="rect">
            <a:avLst/>
          </a:prstGeom>
        </p:spPr>
      </p:pic>
      <p:sp>
        <p:nvSpPr>
          <p:cNvPr id="316" name="Descripcion figura"/>
          <p:cNvSpPr txBox="1"/>
          <p:nvPr/>
        </p:nvSpPr>
        <p:spPr>
          <a:xfrm>
            <a:off x="1250000" y="4797863"/>
            <a:ext cx="9650000" cy="760000"/>
          </a:xfrm>
          <a:noFill/>
          <a:ln>
            <a:noFill/>
          </a:ln>
        </p:spPr>
        <p:txBody>
          <a:bodyPr wrap="square" anchor="mid">
            <a:spAutoFit/>
          </a:bodyPr>
          <a:lstStyle/>
          <a:p>
            <a:pPr algn="ctr"/>
            <a:r>
              <a:rPr lang="es-CO" sz="1350" i="1">
                <a:solidFill>
                  <a:srgbClr val="333333"/>
                </a:solidFill>
                <a:latin typeface="Roboto"/>
              </a:rPr>
              <a:t>Cantidad de estudiantes por cohorte. Presenta la composición de cohortes y compara su tamaño relativo.</a:t>
            </a:r>
          </a:p>
        </p:txBody>
      </p:sp>
      <p:sp>
        <p:nvSpPr>
          <p:cNvPr id="317" name="TextBox 316"/>
          <p:cNvSpPr txBox="1"/>
          <p:nvPr/>
        </p:nvSpPr>
        <p:spPr>
          <a:xfrm>
            <a:off x="731520" y="4647863"/>
            <a:ext cx="10728960" cy="1592917"/>
          </a:xfrm>
          <a:prstGeom prst="rect">
            <a:avLst/>
          </a:prstGeom>
          <a:noFill/>
        </p:spPr>
        <p:txBody>
          <a:bodyPr wrap="square">
            <a:spAutoFit/>
          </a:bodyPr>
          <a:lstStyle/>
          <a:p>
            <a:pPr algn="l"/>
            <a:r>
              <a:rPr sz="1000">
                <a:solidFill>
                  <a:srgbClr val="333333"/>
                </a:solidFill>
              </a:rPr>
              <a:t>Cantidad de estudiantes por cohorte. Presenta la composición de las cohortes y permite comparar su tamaño relativo.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7"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17. Promedio Notas Por Cohorte</a:t>
            </a:r>
          </a:p>
        </p:txBody>
      </p:sp>
      <p:pic>
        <p:nvPicPr>
          <p:cNvPr id="217" name="Figura 217"/>
          <p:cNvPicPr>
            <a:picLocks noChangeAspect="1"/>
          </p:cNvPicPr>
          <p:nvPr/>
        </p:nvPicPr>
        <p:blipFill>
          <a:blip r:embed="rId4"/>
          <a:stretch>
            <a:fillRect/>
          </a:stretch>
        </p:blipFill>
        <p:spPr>
          <a:xfrm>
            <a:off x="946000" y="1250000"/>
            <a:ext cx="10300000" cy="3371748"/>
          </a:xfrm>
          <a:prstGeom prst="rect">
            <a:avLst/>
          </a:prstGeom>
        </p:spPr>
      </p:pic>
      <p:sp>
        <p:nvSpPr>
          <p:cNvPr id="317" name="Descripcion figura"/>
          <p:cNvSpPr txBox="1"/>
          <p:nvPr/>
        </p:nvSpPr>
        <p:spPr>
          <a:xfrm>
            <a:off x="1250000" y="4801748"/>
            <a:ext cx="9650000" cy="760000"/>
          </a:xfrm>
          <a:noFill/>
          <a:ln>
            <a:noFill/>
          </a:ln>
        </p:spPr>
        <p:txBody>
          <a:bodyPr wrap="square" anchor="mid">
            <a:spAutoFit/>
          </a:bodyPr>
          <a:lstStyle/>
          <a:p>
            <a:pPr algn="ctr"/>
            <a:r>
              <a:rPr lang="es-CO" sz="1350" i="1">
                <a:solidFill>
                  <a:srgbClr val="333333"/>
                </a:solidFill>
                <a:latin typeface="Roboto"/>
              </a:rPr>
              <a:t>Promedio de notas por cohorte. Muestra diferencias de desempeño académico entre cohortes.</a:t>
            </a:r>
          </a:p>
        </p:txBody>
      </p:sp>
      <p:sp>
        <p:nvSpPr>
          <p:cNvPr id="318" name="TextBox 317"/>
          <p:cNvSpPr txBox="1"/>
          <p:nvPr/>
        </p:nvSpPr>
        <p:spPr>
          <a:xfrm>
            <a:off x="731520" y="4651748"/>
            <a:ext cx="10728960" cy="1589032"/>
          </a:xfrm>
          <a:prstGeom prst="rect">
            <a:avLst/>
          </a:prstGeom>
          <a:noFill/>
        </p:spPr>
        <p:txBody>
          <a:bodyPr wrap="square">
            <a:spAutoFit/>
          </a:bodyPr>
          <a:lstStyle/>
          <a:p>
            <a:pPr algn="l"/>
            <a:r>
              <a:rPr sz="1000">
                <a:solidFill>
                  <a:srgbClr val="333333"/>
                </a:solidFill>
              </a:rPr>
              <a:t>Promedio de notas por cohorte. Muestra diferencias de desempeño académico entre cohortes de estudiantes.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18. Tasa De Promocion Por Cohorte</a:t>
            </a:r>
          </a:p>
        </p:txBody>
      </p:sp>
      <p:pic>
        <p:nvPicPr>
          <p:cNvPr id="218" name="Figura 218"/>
          <p:cNvPicPr>
            <a:picLocks noChangeAspect="1"/>
          </p:cNvPicPr>
          <p:nvPr/>
        </p:nvPicPr>
        <p:blipFill>
          <a:blip r:embed="rId4"/>
          <a:stretch>
            <a:fillRect/>
          </a:stretch>
        </p:blipFill>
        <p:spPr>
          <a:xfrm>
            <a:off x="946000" y="1250000"/>
            <a:ext cx="10300000" cy="3371748"/>
          </a:xfrm>
          <a:prstGeom prst="rect">
            <a:avLst/>
          </a:prstGeom>
        </p:spPr>
      </p:pic>
      <p:sp>
        <p:nvSpPr>
          <p:cNvPr id="318" name="Descripcion figura"/>
          <p:cNvSpPr txBox="1"/>
          <p:nvPr/>
        </p:nvSpPr>
        <p:spPr>
          <a:xfrm>
            <a:off x="1250000" y="4801748"/>
            <a:ext cx="9650000" cy="760000"/>
          </a:xfrm>
          <a:noFill/>
          <a:ln>
            <a:noFill/>
          </a:ln>
        </p:spPr>
        <p:txBody>
          <a:bodyPr wrap="square" anchor="mid">
            <a:spAutoFit/>
          </a:bodyPr>
          <a:lstStyle/>
          <a:p>
            <a:pPr algn="ctr"/>
            <a:r>
              <a:rPr lang="es-CO" sz="1350" i="1">
                <a:solidFill>
                  <a:srgbClr val="333333"/>
                </a:solidFill>
                <a:latin typeface="Roboto"/>
              </a:rPr>
              <a:t>Tasa de promoción por cohorte. Compara el avance académico y la proporción de promoción entre cohortes.</a:t>
            </a:r>
          </a:p>
        </p:txBody>
      </p:sp>
      <p:sp>
        <p:nvSpPr>
          <p:cNvPr id="319" name="TextBox 318"/>
          <p:cNvSpPr txBox="1"/>
          <p:nvPr/>
        </p:nvSpPr>
        <p:spPr>
          <a:xfrm>
            <a:off x="731520" y="4651748"/>
            <a:ext cx="10728960" cy="1589032"/>
          </a:xfrm>
          <a:prstGeom prst="rect">
            <a:avLst/>
          </a:prstGeom>
          <a:noFill/>
        </p:spPr>
        <p:txBody>
          <a:bodyPr wrap="square">
            <a:spAutoFit/>
          </a:bodyPr>
          <a:lstStyle/>
          <a:p>
            <a:pPr algn="l"/>
            <a:r>
              <a:rPr sz="1000">
                <a:solidFill>
                  <a:srgbClr val="333333"/>
                </a:solidFill>
              </a:rPr>
              <a:t>Tasa de promoción por cohorte. Permite comparar el avance académico y la proporción de promoción entre cohortes.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9"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19. Estudiantes Por Cohorte3 Años</a:t>
            </a:r>
          </a:p>
        </p:txBody>
      </p:sp>
      <p:pic>
        <p:nvPicPr>
          <p:cNvPr id="219" name="Figura 219"/>
          <p:cNvPicPr>
            <a:picLocks noChangeAspect="1"/>
          </p:cNvPicPr>
          <p:nvPr/>
        </p:nvPicPr>
        <p:blipFill>
          <a:blip r:embed="rId4"/>
          <a:stretch>
            <a:fillRect/>
          </a:stretch>
        </p:blipFill>
        <p:spPr>
          <a:xfrm>
            <a:off x="3403866" y="1250000"/>
            <a:ext cx="5384267" cy="4300000"/>
          </a:xfrm>
          <a:prstGeom prst="rect">
            <a:avLst/>
          </a:prstGeom>
        </p:spPr>
      </p:pic>
      <p:sp>
        <p:nvSpPr>
          <p:cNvPr id="319"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Cantidad de estudiantes por cohortes agrupadas en periodos de tres años. Facilita una lectura agregada de tendencias.</a:t>
            </a:r>
          </a:p>
        </p:txBody>
      </p:sp>
      <p:sp>
        <p:nvSpPr>
          <p:cNvPr id="320" name="TextBox 319"/>
          <p:cNvSpPr txBox="1"/>
          <p:nvPr/>
        </p:nvSpPr>
        <p:spPr>
          <a:xfrm>
            <a:off x="731520" y="5580000"/>
            <a:ext cx="10728960" cy="660780"/>
          </a:xfrm>
          <a:prstGeom prst="rect">
            <a:avLst/>
          </a:prstGeom>
          <a:noFill/>
        </p:spPr>
        <p:txBody>
          <a:bodyPr wrap="square">
            <a:spAutoFit/>
          </a:bodyPr>
          <a:lstStyle/>
          <a:p>
            <a:pPr algn="l"/>
            <a:r>
              <a:rPr sz="1000">
                <a:solidFill>
                  <a:srgbClr val="333333"/>
                </a:solidFill>
              </a:rPr>
              <a:t>Cantidad de estudiantes por cohortes agrupadas en periodos de tres años. Suaviza variaciones anuales y facilita una lectura agregada de tendencias.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0"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20. Promedio De Notas Por Cohorte3 Años</a:t>
            </a:r>
          </a:p>
        </p:txBody>
      </p:sp>
      <p:pic>
        <p:nvPicPr>
          <p:cNvPr id="220" name="Figura 220"/>
          <p:cNvPicPr>
            <a:picLocks noChangeAspect="1"/>
          </p:cNvPicPr>
          <p:nvPr/>
        </p:nvPicPr>
        <p:blipFill>
          <a:blip r:embed="rId4"/>
          <a:stretch>
            <a:fillRect/>
          </a:stretch>
        </p:blipFill>
        <p:spPr>
          <a:xfrm>
            <a:off x="3571512" y="1250000"/>
            <a:ext cx="5048975" cy="4300000"/>
          </a:xfrm>
          <a:prstGeom prst="rect">
            <a:avLst/>
          </a:prstGeom>
        </p:spPr>
      </p:pic>
      <p:sp>
        <p:nvSpPr>
          <p:cNvPr id="320"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Promedio de notas por cohortes de tres años. Resume el rendimiento por bloques temporales para identificar patrones de mediano plazo.</a:t>
            </a:r>
          </a:p>
        </p:txBody>
      </p:sp>
      <p:sp>
        <p:nvSpPr>
          <p:cNvPr id="321" name="TextBox 320"/>
          <p:cNvSpPr txBox="1"/>
          <p:nvPr/>
        </p:nvSpPr>
        <p:spPr>
          <a:xfrm>
            <a:off x="731520" y="5580000"/>
            <a:ext cx="10728960" cy="660780"/>
          </a:xfrm>
          <a:prstGeom prst="rect">
            <a:avLst/>
          </a:prstGeom>
          <a:noFill/>
        </p:spPr>
        <p:txBody>
          <a:bodyPr wrap="square">
            <a:spAutoFit/>
          </a:bodyPr>
          <a:lstStyle/>
          <a:p>
            <a:pPr algn="l"/>
            <a:r>
              <a:rPr sz="1000">
                <a:solidFill>
                  <a:srgbClr val="333333"/>
                </a:solidFill>
              </a:rPr>
              <a:t>Promedio de notas por cohortes de tres años. Resume el rendimiento académico por bloques temporales para identificar patrones de mediano plazo.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1"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21. Tasa De Promocion Por Cohorte De3 Años</a:t>
            </a:r>
          </a:p>
        </p:txBody>
      </p:sp>
      <p:pic>
        <p:nvPicPr>
          <p:cNvPr id="221" name="Figura 221"/>
          <p:cNvPicPr>
            <a:picLocks noChangeAspect="1"/>
          </p:cNvPicPr>
          <p:nvPr/>
        </p:nvPicPr>
        <p:blipFill>
          <a:blip r:embed="rId4"/>
          <a:stretch>
            <a:fillRect/>
          </a:stretch>
        </p:blipFill>
        <p:spPr>
          <a:xfrm>
            <a:off x="3507783" y="1250000"/>
            <a:ext cx="5176433" cy="4300000"/>
          </a:xfrm>
          <a:prstGeom prst="rect">
            <a:avLst/>
          </a:prstGeom>
        </p:spPr>
      </p:pic>
      <p:sp>
        <p:nvSpPr>
          <p:cNvPr id="321"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Tasa de promoción por cohortes de tres años. Compara la estabilidad de la promoción estudiantil entre periodos agrupados.</a:t>
            </a:r>
          </a:p>
        </p:txBody>
      </p:sp>
      <p:sp>
        <p:nvSpPr>
          <p:cNvPr id="322" name="TextBox 321"/>
          <p:cNvSpPr txBox="1"/>
          <p:nvPr/>
        </p:nvSpPr>
        <p:spPr>
          <a:xfrm>
            <a:off x="731520" y="5580000"/>
            <a:ext cx="10728960" cy="660780"/>
          </a:xfrm>
          <a:prstGeom prst="rect">
            <a:avLst/>
          </a:prstGeom>
          <a:noFill/>
        </p:spPr>
        <p:txBody>
          <a:bodyPr wrap="square">
            <a:spAutoFit/>
          </a:bodyPr>
          <a:lstStyle/>
          <a:p>
            <a:pPr algn="l"/>
            <a:r>
              <a:rPr sz="1000">
                <a:solidFill>
                  <a:srgbClr val="333333"/>
                </a:solidFill>
              </a:rPr>
              <a:t>Tasa de promoción por cohortes de tres años. Compara la estabilidad de la promoción estudiantil entre períodos agrupados.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2"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22. Evolucion Del Promedio De Notas Por Grado</a:t>
            </a:r>
          </a:p>
        </p:txBody>
      </p:sp>
      <p:pic>
        <p:nvPicPr>
          <p:cNvPr id="222" name="Figura 222"/>
          <p:cNvPicPr>
            <a:picLocks noChangeAspect="1"/>
          </p:cNvPicPr>
          <p:nvPr/>
        </p:nvPicPr>
        <p:blipFill>
          <a:blip r:embed="rId4"/>
          <a:stretch>
            <a:fillRect/>
          </a:stretch>
        </p:blipFill>
        <p:spPr>
          <a:xfrm>
            <a:off x="4428063" y="1250000"/>
            <a:ext cx="3335874" cy="4300000"/>
          </a:xfrm>
          <a:prstGeom prst="rect">
            <a:avLst/>
          </a:prstGeom>
        </p:spPr>
      </p:pic>
      <p:sp>
        <p:nvSpPr>
          <p:cNvPr id="322"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Evolución del promedio de notas por grado. Sigue la trayectoria del rendimiento académico de las cohortes a medida que avanzan por los grados.</a:t>
            </a:r>
          </a:p>
        </p:txBody>
      </p:sp>
      <p:sp>
        <p:nvSpPr>
          <p:cNvPr id="323" name="TextBox 322"/>
          <p:cNvSpPr txBox="1"/>
          <p:nvPr/>
        </p:nvSpPr>
        <p:spPr>
          <a:xfrm>
            <a:off x="731520" y="5580000"/>
            <a:ext cx="10728960" cy="660780"/>
          </a:xfrm>
          <a:prstGeom prst="rect">
            <a:avLst/>
          </a:prstGeom>
          <a:noFill/>
        </p:spPr>
        <p:txBody>
          <a:bodyPr wrap="square">
            <a:spAutoFit/>
          </a:bodyPr>
          <a:lstStyle/>
          <a:p>
            <a:pPr algn="l"/>
            <a:r>
              <a:rPr sz="1000">
                <a:solidFill>
                  <a:srgbClr val="333333"/>
                </a:solidFill>
              </a:rPr>
              <a:t>Evolución del promedio de notas por grado. Permite seguir la trayectoria del rendimiento académico de las cohortes a medida que avanzan por los grados.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3"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23. Distribucion De Notas Promovido</a:t>
            </a:r>
          </a:p>
        </p:txBody>
      </p:sp>
      <p:pic>
        <p:nvPicPr>
          <p:cNvPr id="223" name="Figura 223"/>
          <p:cNvPicPr>
            <a:picLocks noChangeAspect="1"/>
          </p:cNvPicPr>
          <p:nvPr/>
        </p:nvPicPr>
        <p:blipFill>
          <a:blip r:embed="rId4"/>
          <a:stretch>
            <a:fillRect/>
          </a:stretch>
        </p:blipFill>
        <p:spPr>
          <a:xfrm>
            <a:off x="2853305" y="1250000"/>
            <a:ext cx="6485390" cy="4300000"/>
          </a:xfrm>
          <a:prstGeom prst="rect">
            <a:avLst/>
          </a:prstGeom>
        </p:spPr>
      </p:pic>
      <p:sp>
        <p:nvSpPr>
          <p:cNvPr id="323"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Distribución de notas de estudiantes promovidos. Caracteriza el comportamiento de calificaciones en la población promovida.</a:t>
            </a:r>
          </a:p>
        </p:txBody>
      </p:sp>
      <p:sp>
        <p:nvSpPr>
          <p:cNvPr id="324" name="TextBox 323"/>
          <p:cNvSpPr txBox="1"/>
          <p:nvPr/>
        </p:nvSpPr>
        <p:spPr>
          <a:xfrm>
            <a:off x="731520" y="5580000"/>
            <a:ext cx="10728960" cy="660780"/>
          </a:xfrm>
          <a:prstGeom prst="rect">
            <a:avLst/>
          </a:prstGeom>
          <a:noFill/>
        </p:spPr>
        <p:txBody>
          <a:bodyPr wrap="square">
            <a:spAutoFit/>
          </a:bodyPr>
          <a:lstStyle/>
          <a:p>
            <a:pPr algn="l"/>
            <a:r>
              <a:rPr sz="1000">
                <a:solidFill>
                  <a:srgbClr val="333333"/>
                </a:solidFill>
              </a:rPr>
              <a:t>Distribución de notas de estudiantes promovidos. Caracteriza el comportamiento de las calificaciones en la población que alcanza la promoción.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4"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24. Distribucion De Notas No Promovido</a:t>
            </a:r>
          </a:p>
        </p:txBody>
      </p:sp>
      <p:pic>
        <p:nvPicPr>
          <p:cNvPr id="224" name="Figura 224"/>
          <p:cNvPicPr>
            <a:picLocks noChangeAspect="1"/>
          </p:cNvPicPr>
          <p:nvPr/>
        </p:nvPicPr>
        <p:blipFill>
          <a:blip r:embed="rId4"/>
          <a:stretch>
            <a:fillRect/>
          </a:stretch>
        </p:blipFill>
        <p:spPr>
          <a:xfrm>
            <a:off x="3116404" y="1250000"/>
            <a:ext cx="5959191" cy="4300000"/>
          </a:xfrm>
          <a:prstGeom prst="rect">
            <a:avLst/>
          </a:prstGeom>
        </p:spPr>
      </p:pic>
      <p:sp>
        <p:nvSpPr>
          <p:cNvPr id="324"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Distribución de notas de estudiantes no promovidos. Contrasta el rendimiento de la población en riesgo o con resultado de reprobación.</a:t>
            </a:r>
          </a:p>
        </p:txBody>
      </p:sp>
      <p:sp>
        <p:nvSpPr>
          <p:cNvPr id="325" name="TextBox 324"/>
          <p:cNvSpPr txBox="1"/>
          <p:nvPr/>
        </p:nvSpPr>
        <p:spPr>
          <a:xfrm>
            <a:off x="731520" y="5580000"/>
            <a:ext cx="10728960" cy="660780"/>
          </a:xfrm>
          <a:prstGeom prst="rect">
            <a:avLst/>
          </a:prstGeom>
          <a:noFill/>
        </p:spPr>
        <p:txBody>
          <a:bodyPr wrap="square">
            <a:spAutoFit/>
          </a:bodyPr>
          <a:lstStyle/>
          <a:p>
            <a:pPr algn="l"/>
            <a:r>
              <a:rPr sz="1000">
                <a:solidFill>
                  <a:srgbClr val="333333"/>
                </a:solidFill>
              </a:rPr>
              <a:t>Distribución de notas de estudiantes no promovidos. Permite contrastar el rendimiento de la población en riesgo o con resultado de reprobación.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5"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25. Regresion Lineal Notas Reales Vs Predichas</a:t>
            </a:r>
          </a:p>
        </p:txBody>
      </p:sp>
      <p:pic>
        <p:nvPicPr>
          <p:cNvPr id="225" name="Figura 225"/>
          <p:cNvPicPr>
            <a:picLocks noChangeAspect="1"/>
          </p:cNvPicPr>
          <p:nvPr/>
        </p:nvPicPr>
        <p:blipFill>
          <a:blip r:embed="rId4"/>
          <a:stretch>
            <a:fillRect/>
          </a:stretch>
        </p:blipFill>
        <p:spPr>
          <a:xfrm>
            <a:off x="3312966" y="1250000"/>
            <a:ext cx="5566068" cy="4300000"/>
          </a:xfrm>
          <a:prstGeom prst="rect">
            <a:avLst/>
          </a:prstGeom>
        </p:spPr>
      </p:pic>
      <p:sp>
        <p:nvSpPr>
          <p:cNvPr id="325"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Regresión lineal: notas reales frente a notas predichas. Evalúa visualmente el ajuste del modelo para estimar el promedio de notas.</a:t>
            </a:r>
          </a:p>
        </p:txBody>
      </p:sp>
      <p:sp>
        <p:nvSpPr>
          <p:cNvPr id="326" name="TextBox 325"/>
          <p:cNvSpPr txBox="1"/>
          <p:nvPr/>
        </p:nvSpPr>
        <p:spPr>
          <a:xfrm>
            <a:off x="731520" y="5580000"/>
            <a:ext cx="10728960" cy="660780"/>
          </a:xfrm>
          <a:prstGeom prst="rect">
            <a:avLst/>
          </a:prstGeom>
          <a:noFill/>
        </p:spPr>
        <p:txBody>
          <a:bodyPr wrap="square">
            <a:spAutoFit/>
          </a:bodyPr>
          <a:lstStyle/>
          <a:p>
            <a:pPr algn="l"/>
            <a:r>
              <a:rPr sz="1000">
                <a:solidFill>
                  <a:srgbClr val="333333"/>
                </a:solidFill>
              </a:rPr>
              <a:t>Regresión lineal: notas reales frente a notas predichas. Evalúa visualmente el ajuste del modelo para estimar el promedio de notas.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6"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26. Matriz Confusion Regresion Logistica</a:t>
            </a:r>
          </a:p>
        </p:txBody>
      </p:sp>
      <p:pic>
        <p:nvPicPr>
          <p:cNvPr id="226" name="Figura 226"/>
          <p:cNvPicPr>
            <a:picLocks noChangeAspect="1"/>
          </p:cNvPicPr>
          <p:nvPr/>
        </p:nvPicPr>
        <p:blipFill>
          <a:blip r:embed="rId4"/>
          <a:stretch>
            <a:fillRect/>
          </a:stretch>
        </p:blipFill>
        <p:spPr>
          <a:xfrm>
            <a:off x="3344184" y="1250000"/>
            <a:ext cx="5503632" cy="4300000"/>
          </a:xfrm>
          <a:prstGeom prst="rect">
            <a:avLst/>
          </a:prstGeom>
        </p:spPr>
      </p:pic>
      <p:sp>
        <p:nvSpPr>
          <p:cNvPr id="326"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Matriz de confusión de la regresión logística. Resume aciertos y errores al clasificar estudiantes promovidos y no promovidos.</a:t>
            </a:r>
          </a:p>
        </p:txBody>
      </p:sp>
      <p:sp>
        <p:nvSpPr>
          <p:cNvPr id="327" name="TextBox 326"/>
          <p:cNvSpPr txBox="1"/>
          <p:nvPr/>
        </p:nvSpPr>
        <p:spPr>
          <a:xfrm>
            <a:off x="731520" y="5580000"/>
            <a:ext cx="10728960" cy="660780"/>
          </a:xfrm>
          <a:prstGeom prst="rect">
            <a:avLst/>
          </a:prstGeom>
          <a:noFill/>
        </p:spPr>
        <p:txBody>
          <a:bodyPr wrap="square">
            <a:spAutoFit/>
          </a:bodyPr>
          <a:lstStyle/>
          <a:p>
            <a:pPr algn="l"/>
            <a:r>
              <a:rPr sz="1000">
                <a:solidFill>
                  <a:srgbClr val="333333"/>
                </a:solidFill>
              </a:rPr>
              <a:t>Matriz de confusión de la regresión logística. Resume aciertos y errores del modelo al clasificar estudiantes promovidos y no promovidos.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7"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27. Curva R O C A U C Regresion Logistica</a:t>
            </a:r>
          </a:p>
        </p:txBody>
      </p:sp>
      <p:pic>
        <p:nvPicPr>
          <p:cNvPr id="227" name="Figura 227"/>
          <p:cNvPicPr>
            <a:picLocks noChangeAspect="1"/>
          </p:cNvPicPr>
          <p:nvPr/>
        </p:nvPicPr>
        <p:blipFill>
          <a:blip r:embed="rId4"/>
          <a:stretch>
            <a:fillRect/>
          </a:stretch>
        </p:blipFill>
        <p:spPr>
          <a:xfrm>
            <a:off x="3539551" y="1250000"/>
            <a:ext cx="5112897" cy="4300000"/>
          </a:xfrm>
          <a:prstGeom prst="rect">
            <a:avLst/>
          </a:prstGeom>
        </p:spPr>
      </p:pic>
      <p:sp>
        <p:nvSpPr>
          <p:cNvPr id="327"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Curva ROC-AUC de la regresión logística. Mide la capacidad del modelo para separar correctamente las clases.</a:t>
            </a:r>
          </a:p>
        </p:txBody>
      </p:sp>
      <p:sp>
        <p:nvSpPr>
          <p:cNvPr id="328" name="TextBox 327"/>
          <p:cNvSpPr txBox="1"/>
          <p:nvPr/>
        </p:nvSpPr>
        <p:spPr>
          <a:xfrm>
            <a:off x="731520" y="5580000"/>
            <a:ext cx="10728960" cy="660780"/>
          </a:xfrm>
          <a:prstGeom prst="rect">
            <a:avLst/>
          </a:prstGeom>
          <a:noFill/>
        </p:spPr>
        <p:txBody>
          <a:bodyPr wrap="square">
            <a:spAutoFit/>
          </a:bodyPr>
          <a:lstStyle/>
          <a:p>
            <a:pPr algn="l"/>
            <a:r>
              <a:rPr sz="1000">
                <a:solidFill>
                  <a:srgbClr val="333333"/>
                </a:solidFill>
              </a:rPr>
              <a:t>Curva ROC-AUC de la regresión logística. Mide la capacidad del modelo para separar correctamente las clases de promoción y no promoción.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8" name="Titulo figura"/>
          <p:cNvSpPr txBox="1"/>
          <p:nvPr/>
        </p:nvSpPr>
        <p:spPr>
          <a:xfrm>
            <a:off x="700000" y="260000"/>
            <a:ext cx="10800000" cy="650000"/>
          </a:xfrm>
          <a:noFill/>
          <a:ln>
            <a:noFill/>
          </a:ln>
        </p:spPr>
        <p:txBody>
          <a:bodyPr wrap="square" anchor="mid">
            <a:spAutoFit/>
          </a:bodyPr>
          <a:lstStyle/>
          <a:p>
            <a:pPr algn="ctr"/>
            <a:r>
              <a:rPr lang="es-CO" sz="1300" b="1">
                <a:solidFill>
                  <a:srgbClr val="18384F"/>
                </a:solidFill>
                <a:latin typeface="Roboto"/>
              </a:rPr>
              <a:t>Figura 28. Importancia De Caracteristicas En El Arbol De Decision</a:t>
            </a:r>
          </a:p>
        </p:txBody>
      </p:sp>
      <p:pic>
        <p:nvPicPr>
          <p:cNvPr id="228" name="Figura 228"/>
          <p:cNvPicPr>
            <a:picLocks noChangeAspect="1"/>
          </p:cNvPicPr>
          <p:nvPr/>
        </p:nvPicPr>
        <p:blipFill>
          <a:blip r:embed="rId4"/>
          <a:stretch>
            <a:fillRect/>
          </a:stretch>
        </p:blipFill>
        <p:spPr>
          <a:xfrm>
            <a:off x="2345404" y="1250000"/>
            <a:ext cx="7501192" cy="4300000"/>
          </a:xfrm>
          <a:prstGeom prst="rect">
            <a:avLst/>
          </a:prstGeom>
        </p:spPr>
      </p:pic>
      <p:sp>
        <p:nvSpPr>
          <p:cNvPr id="328" name="Descripcion figura"/>
          <p:cNvSpPr txBox="1"/>
          <p:nvPr/>
        </p:nvSpPr>
        <p:spPr>
          <a:xfrm>
            <a:off x="1250000" y="5600000"/>
            <a:ext cx="9650000" cy="760000"/>
          </a:xfrm>
          <a:noFill/>
          <a:ln>
            <a:noFill/>
          </a:ln>
        </p:spPr>
        <p:txBody>
          <a:bodyPr wrap="square" anchor="mid">
            <a:spAutoFit/>
          </a:bodyPr>
          <a:lstStyle/>
          <a:p>
            <a:pPr algn="ctr"/>
            <a:r>
              <a:rPr lang="es-CO" sz="1350" i="1">
                <a:solidFill>
                  <a:srgbClr val="333333"/>
                </a:solidFill>
                <a:latin typeface="Roboto"/>
              </a:rPr>
              <a:t>Importancia de características en el árbol de decisión. Identifica las variables con mayor peso predictivo del modelo interpretable.</a:t>
            </a:r>
          </a:p>
        </p:txBody>
      </p:sp>
      <p:sp>
        <p:nvSpPr>
          <p:cNvPr id="329" name="TextBox 328"/>
          <p:cNvSpPr txBox="1"/>
          <p:nvPr/>
        </p:nvSpPr>
        <p:spPr>
          <a:xfrm>
            <a:off x="731520" y="5580000"/>
            <a:ext cx="10728960" cy="660780"/>
          </a:xfrm>
          <a:prstGeom prst="rect">
            <a:avLst/>
          </a:prstGeom>
          <a:noFill/>
        </p:spPr>
        <p:txBody>
          <a:bodyPr wrap="square">
            <a:spAutoFit/>
          </a:bodyPr>
          <a:lstStyle/>
          <a:p>
            <a:pPr algn="l"/>
            <a:r>
              <a:rPr sz="1000">
                <a:solidFill>
                  <a:srgbClr val="333333"/>
                </a:solidFill>
              </a:rPr>
              <a:t>Importancia de características en el árbol de decisión. Identifica las variables con mayor peso predictivo dentro del modelo interpretable.</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A screenshot of a computer&#10;&#10;Description automatically generated" id="165" name="Google Shape;165;p1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6" name="Google Shape;166;p12"/>
          <p:cNvSpPr txBox="1"/>
          <p:nvPr/>
        </p:nvSpPr>
        <p:spPr>
          <a:xfrm>
            <a:off x="595590" y="1170323"/>
            <a:ext cx="2693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Conclusiones</a:t>
            </a:r>
            <a:endParaRPr b="1" i="0" sz="3600" u="none" cap="none" strike="noStrike">
              <a:solidFill>
                <a:srgbClr val="242B5A"/>
              </a:solidFill>
              <a:latin typeface="Calibri"/>
              <a:ea typeface="Calibri"/>
              <a:cs typeface="Calibri"/>
              <a:sym typeface="Calibri"/>
            </a:endParaRPr>
          </a:p>
        </p:txBody>
      </p:sp>
      <p:sp>
        <p:nvSpPr>
          <p:cNvPr id="167" name="Google Shape;167;p12"/>
          <p:cNvSpPr txBox="1"/>
          <p:nvPr/>
        </p:nvSpPr>
        <p:spPr>
          <a:xfrm>
            <a:off x="4291300" y="957600"/>
            <a:ext cx="7338300" cy="4942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MX" sz="1800" u="none" cap="none" strike="noStrike">
                <a:solidFill>
                  <a:schemeClr val="dk2"/>
                </a:solidFill>
                <a:latin typeface="Trebuchet MS"/>
                <a:ea typeface="Trebuchet MS"/>
                <a:cs typeface="Trebuchet MS"/>
                <a:sym typeface="Trebuchet MS"/>
              </a:rPr>
              <a:t>Sobre el rendimiento del sistema SATA:</a:t>
            </a:r>
            <a:endParaRPr b="1" i="0" sz="1800" u="none" cap="none" strike="noStrike">
              <a:solidFill>
                <a:schemeClr val="dk2"/>
              </a:solidFill>
              <a:latin typeface="Trebuchet MS"/>
              <a:ea typeface="Trebuchet MS"/>
              <a:cs typeface="Trebuchet MS"/>
              <a:sym typeface="Trebuchet MS"/>
            </a:endParaRPr>
          </a:p>
          <a:p>
            <a:pPr indent="0" lvl="0" marL="0" marR="0" rtl="0" algn="just">
              <a:lnSpc>
                <a:spcPct val="115000"/>
              </a:lnSpc>
              <a:spcBef>
                <a:spcPts val="800"/>
              </a:spcBef>
              <a:spcAft>
                <a:spcPts val="0"/>
              </a:spcAft>
              <a:buClr>
                <a:schemeClr val="dk1"/>
              </a:buClr>
              <a:buSzPts val="1100"/>
              <a:buFont typeface="Arial"/>
              <a:buNone/>
            </a:pPr>
            <a:r>
              <a:rPr b="0" i="0" lang="es-MX" sz="1700" u="none" cap="none" strike="noStrike">
                <a:solidFill>
                  <a:schemeClr val="dk1"/>
                </a:solidFill>
                <a:latin typeface="Trebuchet MS"/>
                <a:ea typeface="Trebuchet MS"/>
                <a:cs typeface="Trebuchet MS"/>
                <a:sym typeface="Trebuchet MS"/>
              </a:rPr>
              <a:t>• Exactitud &gt; 96.5% en ambos modelos de clasificación (Logística y Árbol de Decisión).</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15000"/>
              </a:lnSpc>
              <a:spcBef>
                <a:spcPts val="800"/>
              </a:spcBef>
              <a:spcAft>
                <a:spcPts val="0"/>
              </a:spcAft>
              <a:buClr>
                <a:schemeClr val="dk1"/>
              </a:buClr>
              <a:buSzPts val="1100"/>
              <a:buFont typeface="Arial"/>
              <a:buNone/>
            </a:pPr>
            <a:r>
              <a:rPr b="0" i="0" lang="es-MX" sz="1700" u="none" cap="none" strike="noStrike">
                <a:solidFill>
                  <a:schemeClr val="dk1"/>
                </a:solidFill>
                <a:latin typeface="Trebuchet MS"/>
                <a:ea typeface="Trebuchet MS"/>
                <a:cs typeface="Trebuchet MS"/>
                <a:sym typeface="Trebuchet MS"/>
              </a:rPr>
              <a:t>• Regresión Lineal: R² = 0.9996, MAE = 0.011 — predicción casi perfecta del promedio.</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ROC-AUC: 0.989 (Logística) y 0.979 (Árbol) — alta discriminación entre clases.</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15000"/>
              </a:lnSpc>
              <a:spcBef>
                <a:spcPts val="800"/>
              </a:spcBef>
              <a:spcAft>
                <a:spcPts val="0"/>
              </a:spcAft>
              <a:buClr>
                <a:srgbClr val="000000"/>
              </a:buClr>
              <a:buSzPts val="1100"/>
              <a:buFont typeface="Arial"/>
              <a:buNone/>
            </a:pPr>
            <a:r>
              <a:rPr b="0" i="0" lang="es-MX" sz="1400" u="none" cap="none" strike="noStrike">
                <a:solidFill>
                  <a:srgbClr val="000000"/>
                </a:solidFill>
                <a:latin typeface="Arial"/>
                <a:ea typeface="Arial"/>
                <a:cs typeface="Arial"/>
                <a:sym typeface="Arial"/>
              </a:rPr>
              <a:t>Sobre las variables predictoras:</a:t>
            </a:r>
            <a:endParaRPr b="1" i="0" sz="1800" u="none" cap="none" strike="noStrike">
              <a:solidFill>
                <a:srgbClr val="242B5A"/>
              </a:solidFill>
              <a:latin typeface="Trebuchet MS"/>
              <a:ea typeface="Trebuchet MS"/>
              <a:cs typeface="Trebuchet MS"/>
              <a:sym typeface="Trebuchet MS"/>
            </a:endParaRPr>
          </a:p>
          <a:p>
            <a:pPr indent="0" lvl="0" marL="0" marR="0" rtl="0" algn="just">
              <a:lnSpc>
                <a:spcPct val="115000"/>
              </a:lnSpc>
              <a:spcBef>
                <a:spcPts val="800"/>
              </a:spcBef>
              <a:spcAft>
                <a:spcPts val="0"/>
              </a:spcAft>
              <a:buClr>
                <a:srgbClr val="000000"/>
              </a:buClr>
              <a:buSzPts val="1100"/>
              <a:buFont typeface="Arial"/>
              <a:buNone/>
            </a:pPr>
            <a:r>
              <a:rPr b="1" i="0" lang="es-MX" sz="1800" u="none" cap="none" strike="noStrike">
                <a:solidFill>
                  <a:srgbClr val="242B5A"/>
                </a:solidFill>
                <a:latin typeface="Trebuchet MS"/>
                <a:ea typeface="Trebuchet MS"/>
                <a:cs typeface="Trebuchet MS"/>
                <a:sym typeface="Trebuchet MS"/>
              </a:rPr>
              <a:t>• materias_perdidas, promedio_nota y nota_minima son los factores más determinantes.</a:t>
            </a:r>
            <a:endParaRPr b="1" i="0" sz="1800" u="none" cap="none" strike="noStrike">
              <a:solidFill>
                <a:srgbClr val="242B5A"/>
              </a:solidFill>
              <a:latin typeface="Trebuchet MS"/>
              <a:ea typeface="Trebuchet MS"/>
              <a:cs typeface="Trebuchet MS"/>
              <a:sym typeface="Trebuchet MS"/>
            </a:endParaRPr>
          </a:p>
          <a:p>
            <a:pPr indent="0" lvl="0" marL="0" marR="0" rtl="0" algn="just">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El modelo captura correctamente los criterios del SIEE colombiano.</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COVID-19: aumento de inversión en salud, pero con distribución inequitativa.</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Trebuchet MS"/>
              <a:ea typeface="Trebuchet MS"/>
              <a:cs typeface="Trebuchet MS"/>
              <a:sym typeface="Trebuchet MS"/>
            </a:endParaRPr>
          </a:p>
        </p:txBody>
      </p:sp>
      <p:pic>
        <p:nvPicPr>
          <p:cNvPr id="168" name="Google Shape;168;p12"/>
          <p:cNvPicPr preferRelativeResize="0"/>
          <p:nvPr/>
        </p:nvPicPr>
        <p:blipFill rotWithShape="1">
          <a:blip r:embed="rId4">
            <a:alphaModFix/>
          </a:blip>
          <a:srcRect b="0" l="0" r="0" t="0"/>
          <a:stretch/>
        </p:blipFill>
        <p:spPr>
          <a:xfrm>
            <a:off x="1483250" y="2380550"/>
            <a:ext cx="2282900" cy="22829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A screenshot of a computer&#10;&#10;Description automatically generated" id="173" name="Google Shape;173;g377293ec702_1_1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4" name="Google Shape;174;g377293ec702_1_10"/>
          <p:cNvSpPr txBox="1"/>
          <p:nvPr/>
        </p:nvSpPr>
        <p:spPr>
          <a:xfrm>
            <a:off x="4405590" y="675023"/>
            <a:ext cx="2693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Conclusiones</a:t>
            </a:r>
            <a:endParaRPr b="1" i="0" sz="3600" u="none" cap="none" strike="noStrike">
              <a:solidFill>
                <a:srgbClr val="242B5A"/>
              </a:solidFill>
              <a:latin typeface="Calibri"/>
              <a:ea typeface="Calibri"/>
              <a:cs typeface="Calibri"/>
              <a:sym typeface="Calibri"/>
            </a:endParaRPr>
          </a:p>
        </p:txBody>
      </p:sp>
      <p:sp>
        <p:nvSpPr>
          <p:cNvPr id="175" name="Google Shape;175;g377293ec702_1_10"/>
          <p:cNvSpPr txBox="1"/>
          <p:nvPr/>
        </p:nvSpPr>
        <p:spPr>
          <a:xfrm>
            <a:off x="1393075" y="1667125"/>
            <a:ext cx="6534000" cy="375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MX" sz="1800" u="none" cap="none" strike="noStrike">
                <a:solidFill>
                  <a:schemeClr val="dk1"/>
                </a:solidFill>
                <a:latin typeface="Trebuchet MS"/>
                <a:ea typeface="Trebuchet MS"/>
                <a:cs typeface="Trebuchet MS"/>
                <a:sym typeface="Trebuchet MS"/>
              </a:rPr>
              <a:t>Sobre la detección de riesgo:</a:t>
            </a:r>
            <a:endParaRPr b="1" i="0" sz="18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Recall = 97.60%: el sistema detecta al 97.6% de los estudiantes que efectivamente reprobarán.</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Precision = 98.22%: mínimos falsos positivos, preservando la credibilidad del sistema.</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El Árbol de Decisión genera reglas interpretables directamente por los docentes.</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Sobre el ciclo de vida del proyecto:</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El proyecto cubre las 7 fases CRISP-ML: Negocio → ETL → EDA → Modelado → Evaluación → Despliegue → Monitoreo.</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400" u="none" cap="none" strike="noStrike">
                <a:solidFill>
                  <a:srgbClr val="000000"/>
                </a:solidFill>
                <a:latin typeface="Arial"/>
                <a:ea typeface="Arial"/>
                <a:cs typeface="Arial"/>
                <a:sym typeface="Arial"/>
              </a:rPr>
              <a:t>• Arquitectura reproducible y escalable a otras instituciones educativas colombianas.</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Trebuchet MS"/>
              <a:ea typeface="Trebuchet MS"/>
              <a:cs typeface="Trebuchet MS"/>
              <a:sym typeface="Trebuchet MS"/>
            </a:endParaRPr>
          </a:p>
        </p:txBody>
      </p:sp>
      <p:pic>
        <p:nvPicPr>
          <p:cNvPr id="176" name="Google Shape;176;g377293ec702_1_10"/>
          <p:cNvPicPr preferRelativeResize="0"/>
          <p:nvPr/>
        </p:nvPicPr>
        <p:blipFill rotWithShape="1">
          <a:blip r:embed="rId4">
            <a:alphaModFix/>
          </a:blip>
          <a:srcRect b="0" l="0" r="0" t="0"/>
          <a:stretch/>
        </p:blipFill>
        <p:spPr>
          <a:xfrm>
            <a:off x="8626775" y="1856725"/>
            <a:ext cx="2282900" cy="22829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A screenshot of a computer&#10;&#10;Description automatically generated" id="181" name="Google Shape;181;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2" name="Google Shape;182;p13"/>
          <p:cNvSpPr txBox="1"/>
          <p:nvPr/>
        </p:nvSpPr>
        <p:spPr>
          <a:xfrm>
            <a:off x="2531165" y="1046923"/>
            <a:ext cx="366382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Recomendaciones</a:t>
            </a:r>
            <a:endParaRPr b="1" i="0" sz="3600" u="none" cap="none" strike="noStrike">
              <a:solidFill>
                <a:srgbClr val="242B5A"/>
              </a:solidFill>
              <a:latin typeface="Calibri"/>
              <a:ea typeface="Calibri"/>
              <a:cs typeface="Calibri"/>
              <a:sym typeface="Calibri"/>
            </a:endParaRPr>
          </a:p>
        </p:txBody>
      </p:sp>
      <p:sp>
        <p:nvSpPr>
          <p:cNvPr id="183" name="Google Shape;183;p13"/>
          <p:cNvSpPr txBox="1"/>
          <p:nvPr/>
        </p:nvSpPr>
        <p:spPr>
          <a:xfrm>
            <a:off x="4286250" y="1966800"/>
            <a:ext cx="7412100" cy="35760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00000"/>
              </a:lnSpc>
              <a:spcBef>
                <a:spcPts val="100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Implementar re-entrenamiento anual del modelo con los datos de cada nuevo año lectivo.</a:t>
            </a:r>
            <a:endParaRPr b="0" i="0" sz="1700" u="none" cap="none" strike="noStrike">
              <a:solidFill>
                <a:srgbClr val="000000"/>
              </a:solidFill>
              <a:latin typeface="Trebuchet MS"/>
              <a:ea typeface="Trebuchet MS"/>
              <a:cs typeface="Trebuchet MS"/>
              <a:sym typeface="Trebuchet MS"/>
            </a:endParaRPr>
          </a:p>
          <a:p>
            <a:pPr indent="-336550" lvl="0" marL="457200" marR="0" rtl="0" algn="l">
              <a:lnSpc>
                <a:spcPct val="100000"/>
              </a:lnSpc>
              <a:spcBef>
                <a:spcPts val="100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Enriquecer el modelo con variables socioeconómicas del estudiante (estrato, acceso a internet, tipo de familia).</a:t>
            </a:r>
            <a:endParaRPr b="0" i="0" sz="1700" u="none" cap="none" strike="noStrike">
              <a:solidFill>
                <a:srgbClr val="000000"/>
              </a:solidFill>
              <a:latin typeface="Trebuchet MS"/>
              <a:ea typeface="Trebuchet MS"/>
              <a:cs typeface="Trebuchet MS"/>
              <a:sym typeface="Trebuchet MS"/>
            </a:endParaRPr>
          </a:p>
          <a:p>
            <a:pPr indent="-336550" lvl="0" marL="457200" marR="0" rtl="0" algn="l">
              <a:lnSpc>
                <a:spcPct val="100000"/>
              </a:lnSpc>
              <a:spcBef>
                <a:spcPts val="100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Explorar modelos más avanzados: Random Forest, XGBoost y Redes Neuronales para capturar patrones complejos.</a:t>
            </a:r>
            <a:endParaRPr b="0" i="0" sz="1700" u="none" cap="none" strike="noStrike">
              <a:solidFill>
                <a:srgbClr val="000000"/>
              </a:solidFill>
              <a:latin typeface="Trebuchet MS"/>
              <a:ea typeface="Trebuchet MS"/>
              <a:cs typeface="Trebuchet MS"/>
              <a:sym typeface="Trebuchet MS"/>
            </a:endParaRPr>
          </a:p>
          <a:p>
            <a:pPr indent="-336550" lvl="0" marL="457200" marR="0" rtl="0" algn="l">
              <a:lnSpc>
                <a:spcPct val="100000"/>
              </a:lnSpc>
              <a:spcBef>
                <a:spcPts val="100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Establecer un protocolo institucional de uso: quién accede a las predicciones, cómo se comunican las alertas y cómo se mide el impacto de las intervenciones.</a:t>
            </a:r>
            <a:endParaRPr b="0" i="0" sz="1700" u="none" cap="none" strike="noStrike">
              <a:solidFill>
                <a:srgbClr val="000000"/>
              </a:solidFill>
              <a:latin typeface="Trebuchet MS"/>
              <a:ea typeface="Trebuchet MS"/>
              <a:cs typeface="Trebuchet MS"/>
              <a:sym typeface="Trebuchet MS"/>
            </a:endParaRPr>
          </a:p>
          <a:p>
            <a:pPr indent="-336550" lvl="0" marL="457200" marR="0" rtl="0" algn="l">
              <a:lnSpc>
                <a:spcPct val="100000"/>
              </a:lnSpc>
              <a:spcBef>
                <a:spcPts val="100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Documentar todas las etapas del proceso para garantizar transparencia, trazabilidad y replicabilidad en otras instituciones.</a:t>
            </a:r>
            <a:endParaRPr b="0" i="0" sz="1700" u="none" cap="none" strike="noStrike">
              <a:solidFill>
                <a:srgbClr val="000000"/>
              </a:solidFill>
              <a:latin typeface="Trebuchet MS"/>
              <a:ea typeface="Trebuchet MS"/>
              <a:cs typeface="Trebuchet MS"/>
              <a:sym typeface="Trebuchet MS"/>
            </a:endParaRPr>
          </a:p>
        </p:txBody>
      </p:sp>
      <p:pic>
        <p:nvPicPr>
          <p:cNvPr id="184" name="Google Shape;184;p13"/>
          <p:cNvPicPr preferRelativeResize="0"/>
          <p:nvPr/>
        </p:nvPicPr>
        <p:blipFill rotWithShape="1">
          <a:blip r:embed="rId4">
            <a:alphaModFix/>
          </a:blip>
          <a:srcRect b="0" l="0" r="0" t="0"/>
          <a:stretch/>
        </p:blipFill>
        <p:spPr>
          <a:xfrm>
            <a:off x="1388550" y="2196000"/>
            <a:ext cx="2466000" cy="2466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A screenshot of a computer&#10;&#10;Description automatically generated" id="189" name="Google Shape;189;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0" name="Google Shape;190;p14"/>
          <p:cNvSpPr txBox="1"/>
          <p:nvPr/>
        </p:nvSpPr>
        <p:spPr>
          <a:xfrm>
            <a:off x="1923918" y="1486675"/>
            <a:ext cx="89652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Enlace al Notebook en Google Colab:</a:t>
            </a:r>
            <a:endParaRPr b="1" i="0" sz="3600" u="none" cap="none" strike="noStrike">
              <a:solidFill>
                <a:srgbClr val="242B5A"/>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242B5A"/>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242B5A"/>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242B5A"/>
              </a:solidFill>
              <a:latin typeface="Calibri"/>
              <a:ea typeface="Calibri"/>
              <a:cs typeface="Calibri"/>
              <a:sym typeface="Calibri"/>
            </a:endParaRPr>
          </a:p>
        </p:txBody>
      </p:sp>
      <p:sp>
        <p:nvSpPr>
          <p:cNvPr id="191" name="Google Shape;191;p14"/>
          <p:cNvSpPr txBox="1"/>
          <p:nvPr/>
        </p:nvSpPr>
        <p:spPr>
          <a:xfrm>
            <a:off x="2247225" y="2310075"/>
            <a:ext cx="855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MX" sz="1400" u="sng" cap="none" strike="noStrike">
                <a:solidFill>
                  <a:schemeClr val="hlink"/>
                </a:solidFill>
                <a:latin typeface="Trebuchet MS"/>
                <a:ea typeface="Trebuchet MS"/>
                <a:cs typeface="Trebuchet MS"/>
                <a:sym typeface="Trebuchet MS"/>
                <a:hlinkClick r:id="rId4"/>
              </a:rPr>
              <a:t>Enlace al Notebook en Google Colab:</a:t>
            </a:r>
            <a:endParaRPr b="0" i="0" sz="14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descr="A screenshot of a computer&#10;&#10;Description automatically generated" id="196" name="Google Shape;196;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p15"/>
          <p:cNvSpPr txBox="1"/>
          <p:nvPr/>
        </p:nvSpPr>
        <p:spPr>
          <a:xfrm>
            <a:off x="3222870" y="4203245"/>
            <a:ext cx="6037807"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1" i="0" lang="es-MX" sz="7200" u="none" cap="none" strike="noStrike">
                <a:solidFill>
                  <a:srgbClr val="242B5A"/>
                </a:solidFill>
                <a:latin typeface="Calibri"/>
                <a:ea typeface="Calibri"/>
                <a:cs typeface="Calibri"/>
                <a:sym typeface="Calibri"/>
              </a:rPr>
              <a:t>Muchas gracias</a:t>
            </a:r>
            <a:endParaRPr b="1" i="0" sz="7200" u="none" cap="none" strike="noStrike">
              <a:solidFill>
                <a:srgbClr val="242B5A"/>
              </a:solidFill>
              <a:latin typeface="Calibri"/>
              <a:ea typeface="Calibri"/>
              <a:cs typeface="Calibri"/>
              <a:sym typeface="Calibri"/>
            </a:endParaRPr>
          </a:p>
        </p:txBody>
      </p:sp>
      <p:pic>
        <p:nvPicPr>
          <p:cNvPr descr="El análisis de datos como una solución de negocios IoT - CIC" id="198" name="Google Shape;198;p15"/>
          <p:cNvPicPr preferRelativeResize="0"/>
          <p:nvPr/>
        </p:nvPicPr>
        <p:blipFill rotWithShape="1">
          <a:blip r:embed="rId4">
            <a:alphaModFix/>
          </a:blip>
          <a:srcRect b="0" l="0" r="0" t="0"/>
          <a:stretch/>
        </p:blipFill>
        <p:spPr>
          <a:xfrm>
            <a:off x="3804320" y="244048"/>
            <a:ext cx="5087889" cy="41910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LINDO LINDO">
      <a:dk1>
        <a:srgbClr val="000000"/>
      </a:dk1>
      <a:lt1>
        <a:srgbClr val="FFFFFF"/>
      </a:lt1>
      <a:dk2>
        <a:srgbClr val="142F50"/>
      </a:dk2>
      <a:lt2>
        <a:srgbClr val="F9F8F3"/>
      </a:lt2>
      <a:accent1>
        <a:srgbClr val="38A4D4"/>
      </a:accent1>
      <a:accent2>
        <a:srgbClr val="F6F25C"/>
      </a:accent2>
      <a:accent3>
        <a:srgbClr val="FCA810"/>
      </a:accent3>
      <a:accent4>
        <a:srgbClr val="EF255F"/>
      </a:accent4>
      <a:accent5>
        <a:srgbClr val="22B183"/>
      </a:accent5>
      <a:accent6>
        <a:srgbClr val="8C54B6"/>
      </a:accent6>
      <a:hlink>
        <a:srgbClr val="39BCD2"/>
      </a:hlink>
      <a:folHlink>
        <a:srgbClr val="8963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2024-01-29T20:34:43Z</dcterms:created>
  <dc:creator>Ana Maria Salazar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D82F9886-3FD5-42EB-B509-1BFBAE8A1A25</vt:lpwstr>
  </property>
  <property fmtid="{D5CDD505-2E9C-101B-9397-08002B2CF9AE}" pid="3" name="ArticulatePath">
    <vt:lpwstr>Semana1_Videoclase_empaquesyembalajes_V3_David</vt:lpwstr>
  </property>
</Properties>
</file>