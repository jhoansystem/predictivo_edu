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Roboto Black"/>
      <p:bold r:id="rId19"/>
      <p:boldItalic r:id="rId20"/>
    </p:embeddedFon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Z++H2PUVGlj3nwJtc43Y0TBEK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lack-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Black-bold.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72168264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772168264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7293ec702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77293ec702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 name="Shape 11"/>
        <p:cNvGrpSpPr/>
        <p:nvPr/>
      </p:nvGrpSpPr>
      <p:grpSpPr>
        <a:xfrm>
          <a:off x="0" y="0"/>
          <a:ext cx="0" cy="0"/>
          <a:chOff x="0" y="0"/>
          <a:chExt cx="0" cy="0"/>
        </a:xfrm>
      </p:grpSpPr>
      <p:sp>
        <p:nvSpPr>
          <p:cNvPr id="12" name="Google Shape;1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hyperlink" Target="https://lookerstudio.google.com/reporting/eba5cfe8-bc68-48a1-a32a-b02a5785c94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hyperlink" Target="https://colab.research.google.com/drive/1y9LOTA04ez8OwDqxmecfvJM7TcVkldcn?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group of women looking at a computer&#10;&#10;Description automatically generated"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924835" y="4064710"/>
            <a:ext cx="2715709" cy="45719"/>
          </a:xfrm>
          <a:prstGeom prst="rect">
            <a:avLst/>
          </a:prstGeom>
          <a:noFill/>
          <a:ln>
            <a:noFill/>
          </a:ln>
        </p:spPr>
      </p:pic>
      <p:sp>
        <p:nvSpPr>
          <p:cNvPr id="86" name="Google Shape;86;p1"/>
          <p:cNvSpPr txBox="1"/>
          <p:nvPr/>
        </p:nvSpPr>
        <p:spPr>
          <a:xfrm>
            <a:off x="851525" y="1366725"/>
            <a:ext cx="5968500" cy="2544000"/>
          </a:xfrm>
          <a:prstGeom prst="rect">
            <a:avLst/>
          </a:prstGeom>
          <a:noFill/>
          <a:ln>
            <a:noFill/>
          </a:ln>
        </p:spPr>
        <p:txBody>
          <a:bodyPr anchorCtr="0" anchor="t" bIns="45700" lIns="91425" spcFirstLastPara="1" rIns="91425" wrap="square" tIns="45700">
            <a:spAutoFit/>
          </a:bodyPr>
          <a:lstStyle/>
          <a:p>
            <a:pPr indent="0" lvl="0" marL="0" rtl="0" algn="just">
              <a:lnSpc>
                <a:spcPct val="135714"/>
              </a:lnSpc>
              <a:spcBef>
                <a:spcPts val="0"/>
              </a:spcBef>
              <a:spcAft>
                <a:spcPts val="0"/>
              </a:spcAft>
              <a:buClr>
                <a:schemeClr val="dk1"/>
              </a:buClr>
              <a:buSzPts val="1100"/>
              <a:buFont typeface="Arial"/>
              <a:buNone/>
            </a:pPr>
            <a:r>
              <a:rPr b="1" lang="es-MX" sz="2400">
                <a:solidFill>
                  <a:schemeClr val="lt1"/>
                </a:solidFill>
                <a:latin typeface="Roboto"/>
                <a:ea typeface="Roboto"/>
                <a:cs typeface="Roboto"/>
                <a:sym typeface="Roboto"/>
              </a:rPr>
              <a:t>Sistema de Alerta Temprana Académica basado en Machine Learning, aplicando la normativa del sistema educativo colombiano respecto al SIEE. </a:t>
            </a:r>
            <a:endParaRPr b="1" sz="2400">
              <a:solidFill>
                <a:schemeClr val="lt1"/>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2800"/>
              <a:buFont typeface="Arial"/>
              <a:buNone/>
            </a:pPr>
            <a:r>
              <a:t/>
            </a:r>
            <a:endParaRPr b="1" sz="2900">
              <a:solidFill>
                <a:schemeClr val="lt1"/>
              </a:solidFill>
              <a:latin typeface="Roboto Black"/>
              <a:ea typeface="Roboto Black"/>
              <a:cs typeface="Roboto Black"/>
              <a:sym typeface="Roboto Black"/>
            </a:endParaRPr>
          </a:p>
        </p:txBody>
      </p:sp>
      <p:sp>
        <p:nvSpPr>
          <p:cNvPr id="87" name="Google Shape;87;p1"/>
          <p:cNvSpPr txBox="1"/>
          <p:nvPr/>
        </p:nvSpPr>
        <p:spPr>
          <a:xfrm>
            <a:off x="1019050" y="4281250"/>
            <a:ext cx="4018800" cy="78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JHOAN FERNANDO ESCOBAR</a:t>
            </a:r>
            <a:endParaRPr b="0" i="0" sz="1500" u="none" cap="none" strike="noStrike">
              <a:solidFill>
                <a:srgbClr val="FFFFF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MAURICIO BAENA GIRALDO</a:t>
            </a:r>
            <a:endParaRPr sz="1500">
              <a:solidFill>
                <a:srgbClr val="FFFFF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lang="es-MX" sz="1500">
                <a:solidFill>
                  <a:srgbClr val="FFFFFF"/>
                </a:solidFill>
                <a:latin typeface="Roboto"/>
                <a:ea typeface="Roboto"/>
                <a:cs typeface="Roboto"/>
                <a:sym typeface="Roboto"/>
              </a:rPr>
              <a:t>2026</a:t>
            </a:r>
            <a:endParaRPr sz="15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A screenshot of a computer&#10;&#10;Description automatically generated" id="92" name="Google Shape;92;p2"/>
          <p:cNvPicPr preferRelativeResize="0"/>
          <p:nvPr/>
        </p:nvPicPr>
        <p:blipFill rotWithShape="1">
          <a:blip r:embed="rId3">
            <a:alphaModFix/>
          </a:blip>
          <a:srcRect b="0" l="0" r="0" t="0"/>
          <a:stretch/>
        </p:blipFill>
        <p:spPr>
          <a:xfrm>
            <a:off x="41900" y="62825"/>
            <a:ext cx="12192000" cy="6858000"/>
          </a:xfrm>
          <a:prstGeom prst="rect">
            <a:avLst/>
          </a:prstGeom>
          <a:noFill/>
          <a:ln>
            <a:noFill/>
          </a:ln>
        </p:spPr>
      </p:pic>
      <p:sp>
        <p:nvSpPr>
          <p:cNvPr id="93" name="Google Shape;93;p2"/>
          <p:cNvSpPr txBox="1"/>
          <p:nvPr/>
        </p:nvSpPr>
        <p:spPr>
          <a:xfrm>
            <a:off x="2510240" y="963148"/>
            <a:ext cx="1916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Contexto</a:t>
            </a:r>
            <a:endParaRPr b="1" i="0" sz="3600" u="none" cap="none" strike="noStrike">
              <a:solidFill>
                <a:srgbClr val="242B5A"/>
              </a:solidFill>
              <a:latin typeface="Calibri"/>
              <a:ea typeface="Calibri"/>
              <a:cs typeface="Calibri"/>
              <a:sym typeface="Calibri"/>
            </a:endParaRPr>
          </a:p>
        </p:txBody>
      </p:sp>
      <p:sp>
        <p:nvSpPr>
          <p:cNvPr id="94" name="Google Shape;94;p2"/>
          <p:cNvSpPr txBox="1"/>
          <p:nvPr/>
        </p:nvSpPr>
        <p:spPr>
          <a:xfrm>
            <a:off x="1142000" y="1488325"/>
            <a:ext cx="7238700" cy="4433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Trebuchet MS"/>
                <a:ea typeface="Trebuchet MS"/>
                <a:cs typeface="Trebuchet MS"/>
                <a:sym typeface="Trebuchet MS"/>
              </a:rPr>
              <a:t>En Colombia, la reprobación y la deserción escolar en la educación secundaria (grados 6° a 11°) representan un desafío educativo estructural. El SIEE (Sistema Institucional de Evaluación de Estudiantes) establece los criterios de aprobación y promoción escolar.</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sz="2000">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000"/>
              <a:buFont typeface="Arial"/>
              <a:buNone/>
            </a:pPr>
            <a:r>
              <a:rPr b="0" i="0" lang="es-MX" sz="1400" u="none" cap="none" strike="noStrike">
                <a:solidFill>
                  <a:srgbClr val="000000"/>
                </a:solidFill>
                <a:latin typeface="Arial"/>
                <a:ea typeface="Arial"/>
                <a:cs typeface="Arial"/>
                <a:sym typeface="Arial"/>
              </a:rPr>
              <a:t>Los sistemas de alerta temprana con Machine Learning permiten identificar, antes de finalizar el año lectivo, qué estudiantes tienen alto riesgo de reprobación, habilitando intervenciones pedagógicas oportunas.</a:t>
            </a:r>
            <a:endParaRPr b="0" i="0" sz="14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2000"/>
              <a:buFont typeface="Arial"/>
              <a:buNone/>
            </a:pPr>
            <a:r>
              <a:t/>
            </a:r>
            <a:endParaRPr/>
          </a:p>
          <a:p>
            <a:pPr indent="0" lvl="0" marL="0" marR="0" rtl="0" algn="just">
              <a:lnSpc>
                <a:spcPct val="100000"/>
              </a:lnSpc>
              <a:spcBef>
                <a:spcPts val="0"/>
              </a:spcBef>
              <a:spcAft>
                <a:spcPts val="0"/>
              </a:spcAft>
              <a:buClr>
                <a:srgbClr val="000000"/>
              </a:buClr>
              <a:buSzPts val="2000"/>
              <a:buFont typeface="Arial"/>
              <a:buNone/>
            </a:pPr>
            <a:r>
              <a:rPr b="0" i="0" lang="es-MX" sz="2000" u="none" cap="none" strike="noStrike">
                <a:solidFill>
                  <a:srgbClr val="000000"/>
                </a:solidFill>
                <a:latin typeface="Trebuchet MS"/>
                <a:ea typeface="Trebuchet MS"/>
                <a:cs typeface="Trebuchet MS"/>
                <a:sym typeface="Trebuchet MS"/>
              </a:rPr>
              <a:t>Entre 2018 y 2024, han ocurrido diversos factores que han influido en la asignación de recursos, por lo que es clave evaluar su impacto en las condiciones de vida.</a:t>
            </a:r>
            <a:endParaRPr b="0" i="0" sz="2000" u="none" cap="none" strike="noStrike">
              <a:solidFill>
                <a:srgbClr val="000000"/>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p:txBody>
      </p:sp>
      <p:pic>
        <p:nvPicPr>
          <p:cNvPr id="95" name="Google Shape;95;p2"/>
          <p:cNvPicPr preferRelativeResize="0"/>
          <p:nvPr/>
        </p:nvPicPr>
        <p:blipFill rotWithShape="1">
          <a:blip r:embed="rId4">
            <a:alphaModFix/>
          </a:blip>
          <a:srcRect b="0" l="0" r="0" t="0"/>
          <a:stretch/>
        </p:blipFill>
        <p:spPr>
          <a:xfrm>
            <a:off x="8905088" y="1216400"/>
            <a:ext cx="2066925" cy="4257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A screenshot of a computer&#10;&#10;Description automatically generated" id="100" name="Google Shape;100;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3"/>
          <p:cNvSpPr txBox="1"/>
          <p:nvPr/>
        </p:nvSpPr>
        <p:spPr>
          <a:xfrm>
            <a:off x="2531165" y="1046923"/>
            <a:ext cx="565539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Planteamiento del problema</a:t>
            </a:r>
            <a:endParaRPr b="1" i="0" sz="3600" u="none" cap="none" strike="noStrike">
              <a:solidFill>
                <a:srgbClr val="242B5A"/>
              </a:solidFill>
              <a:latin typeface="Calibri"/>
              <a:ea typeface="Calibri"/>
              <a:cs typeface="Calibri"/>
              <a:sym typeface="Calibri"/>
            </a:endParaRPr>
          </a:p>
        </p:txBody>
      </p:sp>
      <p:sp>
        <p:nvSpPr>
          <p:cNvPr id="102" name="Google Shape;102;p3"/>
          <p:cNvSpPr txBox="1"/>
          <p:nvPr/>
        </p:nvSpPr>
        <p:spPr>
          <a:xfrm>
            <a:off x="4690625" y="2034450"/>
            <a:ext cx="6407700" cy="289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s-MX" sz="2200" u="none" cap="none" strike="noStrike">
                <a:solidFill>
                  <a:srgbClr val="000000"/>
                </a:solidFill>
                <a:latin typeface="Trebuchet MS"/>
                <a:ea typeface="Trebuchet MS"/>
                <a:cs typeface="Trebuchet MS"/>
                <a:sym typeface="Trebuchet MS"/>
              </a:rPr>
              <a:t>Las instituciones educativas colombianas poseen datos académicos históricos detallados de sus estudiantes (calificaciones, inasistencias, refuerzos), pero no siempre cuentan con herramientas automatizadas que conviertan esos datos en alertas tempranas de riesgo académico, generando intervenciones tardías que no logran revertir la reprobación.</a:t>
            </a:r>
            <a:endParaRPr b="0" i="0" sz="2200" u="none" cap="none" strike="noStrike">
              <a:solidFill>
                <a:srgbClr val="000000"/>
              </a:solidFill>
              <a:latin typeface="Trebuchet MS"/>
              <a:ea typeface="Trebuchet MS"/>
              <a:cs typeface="Trebuchet MS"/>
              <a:sym typeface="Trebuchet MS"/>
            </a:endParaRPr>
          </a:p>
        </p:txBody>
      </p:sp>
      <p:pic>
        <p:nvPicPr>
          <p:cNvPr id="103" name="Google Shape;103;p3"/>
          <p:cNvPicPr preferRelativeResize="0"/>
          <p:nvPr/>
        </p:nvPicPr>
        <p:blipFill rotWithShape="1">
          <a:blip r:embed="rId4">
            <a:alphaModFix/>
          </a:blip>
          <a:srcRect b="0" l="0" r="0" t="0"/>
          <a:stretch/>
        </p:blipFill>
        <p:spPr>
          <a:xfrm>
            <a:off x="1186075" y="1811350"/>
            <a:ext cx="3340001" cy="3340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A screenshot of a computer&#10;&#10;Description automatically generated" id="108" name="Google Shape;108;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 name="Google Shape;109;p4"/>
          <p:cNvSpPr txBox="1"/>
          <p:nvPr/>
        </p:nvSpPr>
        <p:spPr>
          <a:xfrm>
            <a:off x="2803390" y="921273"/>
            <a:ext cx="2014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Objetivos</a:t>
            </a:r>
            <a:endParaRPr b="1" i="0" sz="3600" u="none" cap="none" strike="noStrike">
              <a:solidFill>
                <a:srgbClr val="242B5A"/>
              </a:solidFill>
              <a:latin typeface="Calibri"/>
              <a:ea typeface="Calibri"/>
              <a:cs typeface="Calibri"/>
              <a:sym typeface="Calibri"/>
            </a:endParaRPr>
          </a:p>
        </p:txBody>
      </p:sp>
      <p:sp>
        <p:nvSpPr>
          <p:cNvPr id="110" name="Google Shape;110;p4"/>
          <p:cNvSpPr txBox="1"/>
          <p:nvPr/>
        </p:nvSpPr>
        <p:spPr>
          <a:xfrm>
            <a:off x="1166173" y="1475747"/>
            <a:ext cx="6731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MX" sz="2800" u="none" cap="none" strike="noStrike">
                <a:solidFill>
                  <a:srgbClr val="242B5A"/>
                </a:solidFill>
                <a:latin typeface="Calibri"/>
                <a:ea typeface="Calibri"/>
                <a:cs typeface="Calibri"/>
                <a:sym typeface="Calibri"/>
              </a:rPr>
              <a:t>General</a:t>
            </a:r>
            <a:endParaRPr b="1" i="0" sz="2800" u="none" cap="none" strike="noStrike">
              <a:solidFill>
                <a:srgbClr val="242B5A"/>
              </a:solidFill>
              <a:latin typeface="Calibri"/>
              <a:ea typeface="Calibri"/>
              <a:cs typeface="Calibri"/>
              <a:sym typeface="Calibri"/>
            </a:endParaRPr>
          </a:p>
        </p:txBody>
      </p:sp>
      <p:sp>
        <p:nvSpPr>
          <p:cNvPr id="111" name="Google Shape;111;p4"/>
          <p:cNvSpPr txBox="1"/>
          <p:nvPr/>
        </p:nvSpPr>
        <p:spPr>
          <a:xfrm>
            <a:off x="1166175" y="1954384"/>
            <a:ext cx="8694600" cy="1486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900"/>
              <a:buFont typeface="Arial"/>
              <a:buNone/>
            </a:pPr>
            <a:r>
              <a:rPr b="0" i="0" lang="es-MX" sz="1900" u="none" cap="none" strike="noStrike">
                <a:solidFill>
                  <a:schemeClr val="dk1"/>
                </a:solidFill>
                <a:latin typeface="Trebuchet MS"/>
                <a:ea typeface="Trebuchet MS"/>
                <a:cs typeface="Trebuchet MS"/>
                <a:sym typeface="Trebuchet MS"/>
              </a:rPr>
              <a:t>Diseñar, entrenar y evaluar modelos de Machine Learning supervisados que permitan predecir si un estudiante de educación secundaria colombiana aprobará o reprobará el ciclo académico, a partir de sus características académicas y de asistencia agregadas por año.</a:t>
            </a:r>
            <a:endParaRPr b="0" i="0" sz="3000" u="none" cap="none" strike="noStrike">
              <a:solidFill>
                <a:srgbClr val="000000"/>
              </a:solidFill>
              <a:latin typeface="Calibri"/>
              <a:ea typeface="Calibri"/>
              <a:cs typeface="Calibri"/>
              <a:sym typeface="Calibri"/>
            </a:endParaRPr>
          </a:p>
        </p:txBody>
      </p:sp>
      <p:sp>
        <p:nvSpPr>
          <p:cNvPr id="112" name="Google Shape;112;p4"/>
          <p:cNvSpPr txBox="1"/>
          <p:nvPr/>
        </p:nvSpPr>
        <p:spPr>
          <a:xfrm>
            <a:off x="1166173" y="3459961"/>
            <a:ext cx="6731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MX" sz="2800" u="none" cap="none" strike="noStrike">
                <a:solidFill>
                  <a:srgbClr val="242B5A"/>
                </a:solidFill>
                <a:latin typeface="Calibri"/>
                <a:ea typeface="Calibri"/>
                <a:cs typeface="Calibri"/>
                <a:sym typeface="Calibri"/>
              </a:rPr>
              <a:t>Específicos </a:t>
            </a:r>
            <a:endParaRPr b="1" i="0" sz="2800" u="none" cap="none" strike="noStrike">
              <a:solidFill>
                <a:srgbClr val="242B5A"/>
              </a:solidFill>
              <a:latin typeface="Calibri"/>
              <a:ea typeface="Calibri"/>
              <a:cs typeface="Calibri"/>
              <a:sym typeface="Calibri"/>
            </a:endParaRPr>
          </a:p>
        </p:txBody>
      </p:sp>
      <p:sp>
        <p:nvSpPr>
          <p:cNvPr id="113" name="Google Shape;113;p4"/>
          <p:cNvSpPr txBox="1"/>
          <p:nvPr/>
        </p:nvSpPr>
        <p:spPr>
          <a:xfrm>
            <a:off x="1166175" y="3873125"/>
            <a:ext cx="10287300" cy="18225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15000"/>
              </a:lnSpc>
              <a:spcBef>
                <a:spcPts val="1200"/>
              </a:spcBef>
              <a:spcAft>
                <a:spcPts val="0"/>
              </a:spcAft>
              <a:buClr>
                <a:srgbClr val="000000"/>
              </a:buClr>
              <a:buSzPts val="1900"/>
              <a:buFont typeface="Calibri"/>
              <a:buChar char="●"/>
            </a:pPr>
            <a:r>
              <a:rPr b="0" i="0" lang="es-MX" sz="1900" u="none" cap="none" strike="noStrike">
                <a:solidFill>
                  <a:schemeClr val="dk1"/>
                </a:solidFill>
                <a:latin typeface="Trebuchet MS"/>
                <a:ea typeface="Trebuchet MS"/>
                <a:cs typeface="Trebuchet MS"/>
                <a:sym typeface="Trebuchet MS"/>
              </a:rPr>
              <a:t>Construir un pipeline de ETL y feature engineering para consolidar registros a nivel estudiante-año.</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Entrenar una Regresión Lineal para predecir el promedio continuo de notas (0.0 a 5.0).</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Entrenar Regresión Logística y Árbol de Decisión para clasificar Aprueba / No Aprueba.</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Evaluar con métricas: R², MAE, RMSE, Accuracy, Precision, Recall, F1-Score y ROC-AUC.</a:t>
            </a:r>
            <a:endParaRPr b="0" i="0" sz="1900" u="none" cap="none" strike="noStrike">
              <a:solidFill>
                <a:schemeClr val="dk1"/>
              </a:solidFill>
              <a:latin typeface="Trebuchet MS"/>
              <a:ea typeface="Trebuchet MS"/>
              <a:cs typeface="Trebuchet MS"/>
              <a:sym typeface="Trebuchet MS"/>
            </a:endParaRPr>
          </a:p>
          <a:p>
            <a:pPr indent="-349250" lvl="0" marL="457200" marR="0" rtl="0" algn="just">
              <a:lnSpc>
                <a:spcPct val="115000"/>
              </a:lnSpc>
              <a:spcBef>
                <a:spcPts val="0"/>
              </a:spcBef>
              <a:spcAft>
                <a:spcPts val="1000"/>
              </a:spcAft>
              <a:buClr>
                <a:schemeClr val="dk1"/>
              </a:buClr>
              <a:buSzPts val="1900"/>
              <a:buFont typeface="Calibri"/>
              <a:buChar char="●"/>
            </a:pPr>
            <a:r>
              <a:rPr b="0" i="0" lang="es-MX" sz="1900" u="none" cap="none" strike="noStrike">
                <a:solidFill>
                  <a:schemeClr val="dk1"/>
                </a:solidFill>
                <a:latin typeface="Trebuchet MS"/>
                <a:ea typeface="Trebuchet MS"/>
                <a:cs typeface="Trebuchet MS"/>
                <a:sym typeface="Trebuchet MS"/>
              </a:rPr>
              <a:t>Desplegar el sistema como aplicación web interactiva con Streamlit.</a:t>
            </a:r>
            <a:endParaRPr b="0" i="0" sz="2500" u="none" cap="none" strike="noStrike">
              <a:solidFill>
                <a:schemeClr val="dk1"/>
              </a:solidFill>
              <a:latin typeface="Trebuchet MS"/>
              <a:ea typeface="Trebuchet MS"/>
              <a:cs typeface="Trebuchet MS"/>
              <a:sym typeface="Trebuchet MS"/>
            </a:endParaRPr>
          </a:p>
        </p:txBody>
      </p:sp>
      <p:pic>
        <p:nvPicPr>
          <p:cNvPr id="114" name="Google Shape;114;p4"/>
          <p:cNvPicPr preferRelativeResize="0"/>
          <p:nvPr/>
        </p:nvPicPr>
        <p:blipFill rotWithShape="1">
          <a:blip r:embed="rId4">
            <a:alphaModFix/>
          </a:blip>
          <a:srcRect b="0" l="0" r="0" t="0"/>
          <a:stretch/>
        </p:blipFill>
        <p:spPr>
          <a:xfrm>
            <a:off x="9380750" y="1183225"/>
            <a:ext cx="2689900" cy="2689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A screenshot of a computer&#10;&#10;Description automatically generated" id="119" name="Google Shape;119;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5"/>
          <p:cNvSpPr txBox="1"/>
          <p:nvPr/>
        </p:nvSpPr>
        <p:spPr>
          <a:xfrm>
            <a:off x="2531165" y="1046923"/>
            <a:ext cx="26424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Metodología</a:t>
            </a:r>
            <a:endParaRPr b="1" i="0" sz="3600" u="none" cap="none" strike="noStrike">
              <a:solidFill>
                <a:srgbClr val="242B5A"/>
              </a:solidFill>
              <a:latin typeface="Calibri"/>
              <a:ea typeface="Calibri"/>
              <a:cs typeface="Calibri"/>
              <a:sym typeface="Calibri"/>
            </a:endParaRPr>
          </a:p>
        </p:txBody>
      </p:sp>
      <p:sp>
        <p:nvSpPr>
          <p:cNvPr id="121" name="Google Shape;121;p5"/>
          <p:cNvSpPr txBox="1"/>
          <p:nvPr/>
        </p:nvSpPr>
        <p:spPr>
          <a:xfrm>
            <a:off x="4292825" y="1817796"/>
            <a:ext cx="7308300" cy="4063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ETL y construcción del dataset consolidado a nivel estudiante-año.</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Análisis exploratorio (EDA) con Python en Google Colab.</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Feature engineering: 11 variables base + promedios por asignatura + variables de interacción.</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chemeClr val="dk1"/>
              </a:buClr>
              <a:buSzPts val="2100"/>
              <a:buFont typeface="Trebuchet MS"/>
              <a:buChar char="●"/>
            </a:pPr>
            <a:r>
              <a:rPr b="0" i="0" lang="es-MX" sz="2100" u="none" cap="none" strike="noStrike">
                <a:solidFill>
                  <a:schemeClr val="dk1"/>
                </a:solidFill>
                <a:latin typeface="Trebuchet MS"/>
                <a:ea typeface="Trebuchet MS"/>
                <a:cs typeface="Trebuchet MS"/>
                <a:sym typeface="Trebuchet MS"/>
              </a:rPr>
              <a:t>Entrenamiento de 3 modelos con Scikit-Learn: Regresión Lineal, Logística y Árbol de Decisión.</a:t>
            </a:r>
            <a:endParaRPr b="0" i="0" sz="2100" u="none" cap="none" strike="noStrike">
              <a:solidFill>
                <a:schemeClr val="dk1"/>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chemeClr val="dk1"/>
              </a:buClr>
              <a:buSzPts val="2100"/>
              <a:buFont typeface="Trebuchet MS"/>
              <a:buChar char="●"/>
            </a:pPr>
            <a:r>
              <a:rPr b="0" i="0" lang="es-MX" sz="2100" u="none" cap="none" strike="noStrike">
                <a:solidFill>
                  <a:schemeClr val="dk1"/>
                </a:solidFill>
                <a:latin typeface="Trebuchet MS"/>
                <a:ea typeface="Trebuchet MS"/>
                <a:cs typeface="Trebuchet MS"/>
                <a:sym typeface="Trebuchet MS"/>
              </a:rPr>
              <a:t>Evaluación con métricas de regresión y clasificación. Serialización con joblib.</a:t>
            </a:r>
            <a:endParaRPr b="0" i="0" sz="2100" u="none" cap="none" strike="noStrike">
              <a:solidFill>
                <a:srgbClr val="000000"/>
              </a:solidFill>
              <a:latin typeface="Trebuchet MS"/>
              <a:ea typeface="Trebuchet MS"/>
              <a:cs typeface="Trebuchet MS"/>
              <a:sym typeface="Trebuchet MS"/>
            </a:endParaRPr>
          </a:p>
          <a:p>
            <a:pPr indent="-361950" lvl="0" marL="457200" marR="0" rtl="0" algn="l">
              <a:lnSpc>
                <a:spcPct val="100000"/>
              </a:lnSpc>
              <a:spcBef>
                <a:spcPts val="0"/>
              </a:spcBef>
              <a:spcAft>
                <a:spcPts val="0"/>
              </a:spcAft>
              <a:buClr>
                <a:srgbClr val="000000"/>
              </a:buClr>
              <a:buSzPts val="2100"/>
              <a:buFont typeface="Trebuchet MS"/>
              <a:buChar char="●"/>
            </a:pPr>
            <a:r>
              <a:rPr b="0" i="0" lang="es-MX" sz="2100" u="none" cap="none" strike="noStrike">
                <a:solidFill>
                  <a:srgbClr val="000000"/>
                </a:solidFill>
                <a:latin typeface="Trebuchet MS"/>
                <a:ea typeface="Trebuchet MS"/>
                <a:cs typeface="Trebuchet MS"/>
                <a:sym typeface="Trebuchet MS"/>
              </a:rPr>
              <a:t>Despliegue como aplicación web interactiva en Streamlit con panel EDA, predicción y quiz.</a:t>
            </a:r>
            <a:endParaRPr b="0" i="0" sz="2100" u="none" cap="none" strike="noStrike">
              <a:solidFill>
                <a:srgbClr val="000000"/>
              </a:solidFill>
              <a:latin typeface="Trebuchet MS"/>
              <a:ea typeface="Trebuchet MS"/>
              <a:cs typeface="Trebuchet MS"/>
              <a:sym typeface="Trebuchet MS"/>
            </a:endParaRPr>
          </a:p>
        </p:txBody>
      </p:sp>
      <p:pic>
        <p:nvPicPr>
          <p:cNvPr id="122" name="Google Shape;122;p5"/>
          <p:cNvPicPr preferRelativeResize="0"/>
          <p:nvPr/>
        </p:nvPicPr>
        <p:blipFill rotWithShape="1">
          <a:blip r:embed="rId4">
            <a:alphaModFix/>
          </a:blip>
          <a:srcRect b="0" l="0" r="0" t="0"/>
          <a:stretch/>
        </p:blipFill>
        <p:spPr>
          <a:xfrm>
            <a:off x="663550" y="2020750"/>
            <a:ext cx="3871750" cy="2690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A screenshot of a computer&#10;&#10;Description automatically generated" id="127" name="Google Shape;127;p6"/>
          <p:cNvPicPr preferRelativeResize="0"/>
          <p:nvPr/>
        </p:nvPicPr>
        <p:blipFill rotWithShape="1">
          <a:blip r:embed="rId3">
            <a:alphaModFix/>
          </a:blip>
          <a:srcRect b="0" l="0" r="0" t="0"/>
          <a:stretch/>
        </p:blipFill>
        <p:spPr>
          <a:xfrm>
            <a:off x="0" y="47297"/>
            <a:ext cx="12192000" cy="6858000"/>
          </a:xfrm>
          <a:prstGeom prst="rect">
            <a:avLst/>
          </a:prstGeom>
          <a:noFill/>
          <a:ln>
            <a:noFill/>
          </a:ln>
        </p:spPr>
      </p:pic>
      <p:sp>
        <p:nvSpPr>
          <p:cNvPr id="128" name="Google Shape;128;p6"/>
          <p:cNvSpPr txBox="1"/>
          <p:nvPr/>
        </p:nvSpPr>
        <p:spPr>
          <a:xfrm>
            <a:off x="2531165" y="1046923"/>
            <a:ext cx="690701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Recolección y Exploración de Datos</a:t>
            </a:r>
            <a:endParaRPr b="1" i="0" sz="3600" u="none" cap="none" strike="noStrike">
              <a:solidFill>
                <a:srgbClr val="242B5A"/>
              </a:solidFill>
              <a:latin typeface="Calibri"/>
              <a:ea typeface="Calibri"/>
              <a:cs typeface="Calibri"/>
              <a:sym typeface="Calibri"/>
            </a:endParaRPr>
          </a:p>
        </p:txBody>
      </p:sp>
      <p:sp>
        <p:nvSpPr>
          <p:cNvPr id="129" name="Google Shape;129;p6"/>
          <p:cNvSpPr txBox="1"/>
          <p:nvPr/>
        </p:nvSpPr>
        <p:spPr>
          <a:xfrm>
            <a:off x="1193600" y="1693250"/>
            <a:ext cx="883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txBox="1"/>
          <p:nvPr/>
        </p:nvSpPr>
        <p:spPr>
          <a:xfrm>
            <a:off x="952800" y="1831700"/>
            <a:ext cx="10438800" cy="1231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s-MX" sz="1700" u="none" cap="none" strike="noStrike">
                <a:solidFill>
                  <a:srgbClr val="000000"/>
                </a:solidFill>
                <a:latin typeface="Trebuchet MS"/>
                <a:ea typeface="Trebuchet MS"/>
                <a:cs typeface="Trebuchet MS"/>
                <a:sym typeface="Trebuchet MS"/>
              </a:rPr>
              <a:t>Fuente principal: Resultados_2015-2024_limpio.csv (generado en la fase ETL previa). Los datos fueron procesados por preparar_datos_y_modelos.py y consolidados en dataset_modelos_aprendizaje.xlsx (3 hojas).</a:t>
            </a:r>
            <a:endParaRPr b="0" i="0" sz="17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p:txBody>
      </p:sp>
      <p:sp>
        <p:nvSpPr>
          <p:cNvPr id="131" name="Google Shape;131;p6"/>
          <p:cNvSpPr txBox="1"/>
          <p:nvPr/>
        </p:nvSpPr>
        <p:spPr>
          <a:xfrm>
            <a:off x="952800" y="3063200"/>
            <a:ext cx="5538900" cy="9696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AutoNum type="arabicPeriod"/>
            </a:pPr>
            <a:r>
              <a:rPr b="1" i="0" lang="es-MX" sz="1700" u="none" cap="none" strike="noStrike">
                <a:solidFill>
                  <a:srgbClr val="000000"/>
                </a:solidFill>
                <a:latin typeface="Arial"/>
                <a:ea typeface="Arial"/>
                <a:cs typeface="Arial"/>
                <a:sym typeface="Arial"/>
              </a:rPr>
              <a:t>Dataset original a nivel de registro: 331.787 filas × 28 columnas.</a:t>
            </a:r>
            <a:endParaRPr b="0" i="0" sz="1700" u="none" cap="none" strike="noStrike">
              <a:solidFill>
                <a:srgbClr val="000000"/>
              </a:solidFill>
              <a:latin typeface="Arial"/>
              <a:ea typeface="Arial"/>
              <a:cs typeface="Arial"/>
              <a:sym typeface="Arial"/>
            </a:endParaRPr>
          </a:p>
        </p:txBody>
      </p:sp>
      <p:sp>
        <p:nvSpPr>
          <p:cNvPr id="132" name="Google Shape;132;p6"/>
          <p:cNvSpPr txBox="1"/>
          <p:nvPr/>
        </p:nvSpPr>
        <p:spPr>
          <a:xfrm>
            <a:off x="1738075" y="3914559"/>
            <a:ext cx="4805700" cy="20163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Dataset original a nivel de registro: 331.787 filas × 28 columnas.</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Columnas clave: matricula, ano, grado, codmat, nommat, nota (0.0–5.0), faltas, promovido (S/N), refuerzo.</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0 valores nulos en el dataset limpio consolidado.</a:t>
            </a:r>
            <a:endParaRPr b="0" i="0" sz="1700" u="none" cap="none" strike="noStrike">
              <a:solidFill>
                <a:srgbClr val="000000"/>
              </a:solidFill>
              <a:latin typeface="Arial"/>
              <a:ea typeface="Arial"/>
              <a:cs typeface="Arial"/>
              <a:sym typeface="Arial"/>
            </a:endParaRPr>
          </a:p>
        </p:txBody>
      </p:sp>
      <p:pic>
        <p:nvPicPr>
          <p:cNvPr id="133" name="Google Shape;133;p6"/>
          <p:cNvPicPr preferRelativeResize="0"/>
          <p:nvPr/>
        </p:nvPicPr>
        <p:blipFill rotWithShape="1">
          <a:blip r:embed="rId4">
            <a:alphaModFix/>
          </a:blip>
          <a:srcRect b="0" l="0" r="0" t="0"/>
          <a:stretch/>
        </p:blipFill>
        <p:spPr>
          <a:xfrm>
            <a:off x="7458451" y="2701350"/>
            <a:ext cx="3242000" cy="316909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A screenshot of a computer&#10;&#10;Description automatically generated" id="138" name="Google Shape;138;g3772168264c_0_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9" name="Google Shape;139;g3772168264c_0_68"/>
          <p:cNvSpPr txBox="1"/>
          <p:nvPr/>
        </p:nvSpPr>
        <p:spPr>
          <a:xfrm>
            <a:off x="2474015" y="1046752"/>
            <a:ext cx="6906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Recolección y Exploración de Datos</a:t>
            </a:r>
            <a:endParaRPr b="1" i="0" sz="3600" u="none" cap="none" strike="noStrike">
              <a:solidFill>
                <a:srgbClr val="242B5A"/>
              </a:solidFill>
              <a:latin typeface="Calibri"/>
              <a:ea typeface="Calibri"/>
              <a:cs typeface="Calibri"/>
              <a:sym typeface="Calibri"/>
            </a:endParaRPr>
          </a:p>
        </p:txBody>
      </p:sp>
      <p:sp>
        <p:nvSpPr>
          <p:cNvPr id="140" name="Google Shape;140;g3772168264c_0_68"/>
          <p:cNvSpPr txBox="1"/>
          <p:nvPr/>
        </p:nvSpPr>
        <p:spPr>
          <a:xfrm>
            <a:off x="1193600" y="1693250"/>
            <a:ext cx="883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3772168264c_0_68"/>
          <p:cNvSpPr txBox="1"/>
          <p:nvPr/>
        </p:nvSpPr>
        <p:spPr>
          <a:xfrm>
            <a:off x="522642" y="2429970"/>
            <a:ext cx="5612400" cy="969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1" i="0" lang="es-MX" sz="1700" u="none" cap="none" strike="noStrike">
                <a:solidFill>
                  <a:srgbClr val="000000"/>
                </a:solidFill>
                <a:latin typeface="Arial"/>
                <a:ea typeface="Arial"/>
                <a:cs typeface="Arial"/>
                <a:sym typeface="Arial"/>
              </a:rPr>
              <a:t>Dataset Regresión Logística: 5.341 registros × 36 columnas.</a:t>
            </a:r>
            <a:endParaRPr b="0" i="0" sz="17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700"/>
              <a:buFont typeface="Arial"/>
              <a:buNone/>
            </a:pPr>
            <a:r>
              <a:rPr b="0" i="0" lang="es-MX" sz="1700" u="none" cap="none" strike="noStrike">
                <a:solidFill>
                  <a:srgbClr val="000000"/>
                </a:solidFill>
                <a:latin typeface="Arial"/>
                <a:ea typeface="Arial"/>
                <a:cs typeface="Arial"/>
                <a:sym typeface="Arial"/>
              </a:rPr>
              <a:t>30 features de entrada (incl. promedios por área).</a:t>
            </a:r>
            <a:endParaRPr b="0" i="0" sz="1700" u="none" cap="none" strike="noStrike">
              <a:solidFill>
                <a:srgbClr val="000000"/>
              </a:solidFill>
              <a:latin typeface="Arial"/>
              <a:ea typeface="Arial"/>
              <a:cs typeface="Arial"/>
              <a:sym typeface="Arial"/>
            </a:endParaRPr>
          </a:p>
        </p:txBody>
      </p:sp>
      <p:sp>
        <p:nvSpPr>
          <p:cNvPr id="142" name="Google Shape;142;g3772168264c_0_68"/>
          <p:cNvSpPr txBox="1"/>
          <p:nvPr/>
        </p:nvSpPr>
        <p:spPr>
          <a:xfrm>
            <a:off x="1029125" y="3736085"/>
            <a:ext cx="4805700" cy="17547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Dataset Regresión Logística: 5.341 registros × 36 columnas.</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30 features de entrada (incl. promedios por área).</a:t>
            </a:r>
            <a:endParaRPr b="0" i="0" sz="1700" u="none" cap="none" strike="noStrike">
              <a:solidFill>
                <a:srgbClr val="000000"/>
              </a:solidFill>
              <a:latin typeface="Arial"/>
              <a:ea typeface="Arial"/>
              <a:cs typeface="Arial"/>
              <a:sym typeface="Arial"/>
            </a:endParaRPr>
          </a:p>
          <a:p>
            <a:pPr indent="-336550" lvl="0" marL="457200" marR="0" rtl="0" algn="just">
              <a:lnSpc>
                <a:spcPct val="100000"/>
              </a:lnSpc>
              <a:spcBef>
                <a:spcPts val="0"/>
              </a:spcBef>
              <a:spcAft>
                <a:spcPts val="0"/>
              </a:spcAft>
              <a:buClr>
                <a:srgbClr val="000000"/>
              </a:buClr>
              <a:buSzPts val="1700"/>
              <a:buFont typeface="Arial"/>
              <a:buChar char="●"/>
            </a:pPr>
            <a:r>
              <a:rPr b="0" i="0" lang="es-MX" sz="1700" u="none" cap="none" strike="noStrike">
                <a:solidFill>
                  <a:srgbClr val="000000"/>
                </a:solidFill>
                <a:latin typeface="Arial"/>
                <a:ea typeface="Arial"/>
                <a:cs typeface="Arial"/>
                <a:sym typeface="Arial"/>
              </a:rPr>
              <a:t>Target: promovido_bin. Distribución: 74% aprobados / 26% reprobados.</a:t>
            </a:r>
            <a:endParaRPr b="0" i="0" sz="1700" u="none" cap="none" strike="noStrike">
              <a:solidFill>
                <a:srgbClr val="000000"/>
              </a:solidFill>
              <a:latin typeface="Arial"/>
              <a:ea typeface="Arial"/>
              <a:cs typeface="Arial"/>
              <a:sym typeface="Arial"/>
            </a:endParaRPr>
          </a:p>
        </p:txBody>
      </p:sp>
      <p:pic>
        <p:nvPicPr>
          <p:cNvPr id="143" name="Google Shape;143;g3772168264c_0_68"/>
          <p:cNvPicPr preferRelativeResize="0"/>
          <p:nvPr/>
        </p:nvPicPr>
        <p:blipFill rotWithShape="1">
          <a:blip r:embed="rId4">
            <a:alphaModFix/>
          </a:blip>
          <a:srcRect b="0" l="0" r="0" t="0"/>
          <a:stretch/>
        </p:blipFill>
        <p:spPr>
          <a:xfrm>
            <a:off x="6560300" y="2758322"/>
            <a:ext cx="5205900" cy="1976500"/>
          </a:xfrm>
          <a:prstGeom prst="rect">
            <a:avLst/>
          </a:prstGeom>
          <a:noFill/>
          <a:ln cap="flat" cmpd="sng" w="9525">
            <a:solidFill>
              <a:schemeClr val="dk2"/>
            </a:solidFill>
            <a:prstDash val="solid"/>
            <a:round/>
            <a:headEnd len="sm" w="sm" type="none"/>
            <a:tailEnd len="sm" w="sm" type="none"/>
          </a:ln>
        </p:spPr>
      </p:pic>
      <p:cxnSp>
        <p:nvCxnSpPr>
          <p:cNvPr id="144" name="Google Shape;144;g3772168264c_0_68"/>
          <p:cNvCxnSpPr/>
          <p:nvPr/>
        </p:nvCxnSpPr>
        <p:spPr>
          <a:xfrm flipH="1" rot="10800000">
            <a:off x="1164175" y="3736075"/>
            <a:ext cx="10392900" cy="21000"/>
          </a:xfrm>
          <a:prstGeom prst="straightConnector1">
            <a:avLst/>
          </a:prstGeom>
          <a:noFill/>
          <a:ln cap="flat" cmpd="sng" w="9525">
            <a:solidFill>
              <a:srgbClr val="D9D9D9"/>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A screenshot of a computer&#10;&#10;Description automatically generated" id="149" name="Google Shape;149;p7"/>
          <p:cNvPicPr preferRelativeResize="0"/>
          <p:nvPr/>
        </p:nvPicPr>
        <p:blipFill rotWithShape="1">
          <a:blip r:embed="rId3">
            <a:alphaModFix/>
          </a:blip>
          <a:srcRect b="0" l="0" r="0" t="0"/>
          <a:stretch/>
        </p:blipFill>
        <p:spPr>
          <a:xfrm>
            <a:off x="0" y="19050"/>
            <a:ext cx="12192000" cy="6858000"/>
          </a:xfrm>
          <a:prstGeom prst="rect">
            <a:avLst/>
          </a:prstGeom>
          <a:noFill/>
          <a:ln>
            <a:noFill/>
          </a:ln>
        </p:spPr>
      </p:pic>
      <p:sp>
        <p:nvSpPr>
          <p:cNvPr id="150" name="Google Shape;150;p7"/>
          <p:cNvSpPr txBox="1"/>
          <p:nvPr/>
        </p:nvSpPr>
        <p:spPr>
          <a:xfrm>
            <a:off x="2589606" y="788211"/>
            <a:ext cx="6660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Preparación o Limpieza de Datos</a:t>
            </a:r>
            <a:endParaRPr b="1" i="0" sz="3600" u="none" cap="none" strike="noStrike">
              <a:solidFill>
                <a:srgbClr val="242B5A"/>
              </a:solidFill>
              <a:latin typeface="Calibri"/>
              <a:ea typeface="Calibri"/>
              <a:cs typeface="Calibri"/>
              <a:sym typeface="Calibri"/>
            </a:endParaRPr>
          </a:p>
        </p:txBody>
      </p:sp>
      <p:sp>
        <p:nvSpPr>
          <p:cNvPr id="151" name="Google Shape;151;p7"/>
          <p:cNvSpPr txBox="1"/>
          <p:nvPr/>
        </p:nvSpPr>
        <p:spPr>
          <a:xfrm>
            <a:off x="1037175" y="1627700"/>
            <a:ext cx="7323600" cy="3324600"/>
          </a:xfrm>
          <a:prstGeom prst="rect">
            <a:avLst/>
          </a:prstGeom>
          <a:noFill/>
          <a:ln>
            <a:noFill/>
          </a:ln>
        </p:spPr>
        <p:txBody>
          <a:bodyPr anchorCtr="0" anchor="t" bIns="91425" lIns="91425" spcFirstLastPara="1" rIns="91425" wrap="square" tIns="91425">
            <a:spAutoFit/>
          </a:bodyPr>
          <a:lstStyle/>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Agregación por estudiante-año: 331.787 registros → 5.341 registros estudiante-año.</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Imputación de promedios por área nulos con promedio_nota del estudiante.</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Exclusión de áreas con cobertura &lt; 30% de estudiantes.</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División 80/20 con partición estratificada para preservar proporción aprobados/reprobados.</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Escalado StandardScaler aplicado a Regresión Lineal y Logística (NO al Árbol de Decisión).</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Balanceo class_weight='balanced' en modelos de clasificación.</a:t>
            </a:r>
            <a:endParaRPr b="0" i="0" sz="1700" u="none" cap="none" strike="noStrike">
              <a:solidFill>
                <a:srgbClr val="000000"/>
              </a:solidFill>
              <a:latin typeface="Trebuchet MS"/>
              <a:ea typeface="Trebuchet MS"/>
              <a:cs typeface="Trebuchet MS"/>
              <a:sym typeface="Trebuchet MS"/>
            </a:endParaRPr>
          </a:p>
          <a:p>
            <a:pPr indent="-336550" lvl="0" marL="457200" marR="0" rtl="0" algn="just">
              <a:lnSpc>
                <a:spcPct val="100000"/>
              </a:lnSpc>
              <a:spcBef>
                <a:spcPts val="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Dataset final: 3 archivos CSV + 1 Excel con 3 hojas. 0 nulos. 0 infinitos.</a:t>
            </a:r>
            <a:endParaRPr b="0" i="0" sz="1700" u="none" cap="none" strike="noStrike">
              <a:solidFill>
                <a:srgbClr val="000000"/>
              </a:solidFill>
              <a:latin typeface="Trebuchet MS"/>
              <a:ea typeface="Trebuchet MS"/>
              <a:cs typeface="Trebuchet MS"/>
              <a:sym typeface="Trebuchet MS"/>
            </a:endParaRPr>
          </a:p>
        </p:txBody>
      </p:sp>
      <p:pic>
        <p:nvPicPr>
          <p:cNvPr id="152" name="Google Shape;152;p7"/>
          <p:cNvPicPr preferRelativeResize="0"/>
          <p:nvPr/>
        </p:nvPicPr>
        <p:blipFill rotWithShape="1">
          <a:blip r:embed="rId4">
            <a:alphaModFix amt="72000"/>
          </a:blip>
          <a:srcRect b="0" l="0" r="0" t="0"/>
          <a:stretch/>
        </p:blipFill>
        <p:spPr>
          <a:xfrm>
            <a:off x="8773525" y="2055975"/>
            <a:ext cx="2875850" cy="2875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A screenshot of a computer&#10;&#10;Description automatically generated" id="157" name="Google Shape;157;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8" name="Google Shape;158;p8"/>
          <p:cNvSpPr txBox="1"/>
          <p:nvPr/>
        </p:nvSpPr>
        <p:spPr>
          <a:xfrm>
            <a:off x="2383681" y="1032174"/>
            <a:ext cx="685565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Visualización exploratoria de datos</a:t>
            </a:r>
            <a:endParaRPr b="1" i="0" sz="3600" u="none" cap="none" strike="noStrike">
              <a:solidFill>
                <a:srgbClr val="242B5A"/>
              </a:solidFill>
              <a:latin typeface="Calibri"/>
              <a:ea typeface="Calibri"/>
              <a:cs typeface="Calibri"/>
              <a:sym typeface="Calibri"/>
            </a:endParaRPr>
          </a:p>
        </p:txBody>
      </p:sp>
      <p:sp>
        <p:nvSpPr>
          <p:cNvPr id="159" name="Google Shape;159;p8"/>
          <p:cNvSpPr txBox="1"/>
          <p:nvPr/>
        </p:nvSpPr>
        <p:spPr>
          <a:xfrm>
            <a:off x="2461025" y="3699175"/>
            <a:ext cx="7198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MX" sz="1600" u="sng" cap="none" strike="noStrike">
                <a:solidFill>
                  <a:schemeClr val="hlink"/>
                </a:solidFill>
                <a:latin typeface="Arial"/>
                <a:ea typeface="Arial"/>
                <a:cs typeface="Arial"/>
                <a:sym typeface="Arial"/>
                <a:hlinkClick r:id="rId4"/>
              </a:rPr>
              <a:t>Aplicación Streamlit: https://share.streamlit.io/ (pendiente de despliegue)</a:t>
            </a:r>
            <a:endParaRPr b="0" i="0" sz="1600" u="none" cap="none" strike="noStrike">
              <a:solidFill>
                <a:srgbClr val="000000"/>
              </a:solidFill>
              <a:latin typeface="Arial"/>
              <a:ea typeface="Arial"/>
              <a:cs typeface="Arial"/>
              <a:sym typeface="Arial"/>
            </a:endParaRPr>
          </a:p>
        </p:txBody>
      </p:sp>
      <p:sp>
        <p:nvSpPr>
          <p:cNvPr id="160" name="Google Shape;160;p8"/>
          <p:cNvSpPr txBox="1"/>
          <p:nvPr/>
        </p:nvSpPr>
        <p:spPr>
          <a:xfrm>
            <a:off x="2461018" y="2067199"/>
            <a:ext cx="68556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s-MX" sz="3400" u="none" cap="none" strike="noStrike">
                <a:solidFill>
                  <a:srgbClr val="242B5A"/>
                </a:solidFill>
                <a:latin typeface="Calibri"/>
                <a:ea typeface="Calibri"/>
                <a:cs typeface="Calibri"/>
                <a:sym typeface="Calibri"/>
              </a:rPr>
              <a:t>Dashboard Streamlit — Pestaña EDA Interactiva:</a:t>
            </a:r>
            <a:endParaRPr b="1" i="0" sz="3400" u="none" cap="none" strike="noStrike">
              <a:solidFill>
                <a:srgbClr val="242B5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A screenshot of a computer&#10;&#10;Description automatically generated" id="165" name="Google Shape;165;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6" name="Google Shape;166;p12"/>
          <p:cNvSpPr txBox="1"/>
          <p:nvPr/>
        </p:nvSpPr>
        <p:spPr>
          <a:xfrm>
            <a:off x="595590" y="1170323"/>
            <a:ext cx="2693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Conclusiones</a:t>
            </a:r>
            <a:endParaRPr b="1" i="0" sz="3600" u="none" cap="none" strike="noStrike">
              <a:solidFill>
                <a:srgbClr val="242B5A"/>
              </a:solidFill>
              <a:latin typeface="Calibri"/>
              <a:ea typeface="Calibri"/>
              <a:cs typeface="Calibri"/>
              <a:sym typeface="Calibri"/>
            </a:endParaRPr>
          </a:p>
        </p:txBody>
      </p:sp>
      <p:sp>
        <p:nvSpPr>
          <p:cNvPr id="167" name="Google Shape;167;p12"/>
          <p:cNvSpPr txBox="1"/>
          <p:nvPr/>
        </p:nvSpPr>
        <p:spPr>
          <a:xfrm>
            <a:off x="4291300" y="957600"/>
            <a:ext cx="7338300" cy="4942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MX" sz="1800" u="none" cap="none" strike="noStrike">
                <a:solidFill>
                  <a:schemeClr val="dk2"/>
                </a:solidFill>
                <a:latin typeface="Trebuchet MS"/>
                <a:ea typeface="Trebuchet MS"/>
                <a:cs typeface="Trebuchet MS"/>
                <a:sym typeface="Trebuchet MS"/>
              </a:rPr>
              <a:t>Sobre el rendimiento del sistema SATA:</a:t>
            </a:r>
            <a:endParaRPr b="1" i="0" sz="1800" u="none" cap="none" strike="noStrike">
              <a:solidFill>
                <a:schemeClr val="dk2"/>
              </a:solidFill>
              <a:latin typeface="Trebuchet MS"/>
              <a:ea typeface="Trebuchet MS"/>
              <a:cs typeface="Trebuchet MS"/>
              <a:sym typeface="Trebuchet MS"/>
            </a:endParaRPr>
          </a:p>
          <a:p>
            <a:pPr indent="0" lvl="0" marL="0" marR="0" rtl="0" algn="just">
              <a:lnSpc>
                <a:spcPct val="115000"/>
              </a:lnSpc>
              <a:spcBef>
                <a:spcPts val="800"/>
              </a:spcBef>
              <a:spcAft>
                <a:spcPts val="0"/>
              </a:spcAft>
              <a:buClr>
                <a:schemeClr val="dk1"/>
              </a:buClr>
              <a:buSzPts val="1100"/>
              <a:buFont typeface="Arial"/>
              <a:buNone/>
            </a:pPr>
            <a:r>
              <a:rPr b="0" i="0" lang="es-MX" sz="1700" u="none" cap="none" strike="noStrike">
                <a:solidFill>
                  <a:schemeClr val="dk1"/>
                </a:solidFill>
                <a:latin typeface="Trebuchet MS"/>
                <a:ea typeface="Trebuchet MS"/>
                <a:cs typeface="Trebuchet MS"/>
                <a:sym typeface="Trebuchet MS"/>
              </a:rPr>
              <a:t>• Exactitud &gt; 96.5% en ambos modelos de clasificación (Logística y Árbol de Decisión).</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chemeClr val="dk1"/>
              </a:buClr>
              <a:buSzPts val="1100"/>
              <a:buFont typeface="Arial"/>
              <a:buNone/>
            </a:pPr>
            <a:r>
              <a:rPr b="0" i="0" lang="es-MX" sz="1700" u="none" cap="none" strike="noStrike">
                <a:solidFill>
                  <a:schemeClr val="dk1"/>
                </a:solidFill>
                <a:latin typeface="Trebuchet MS"/>
                <a:ea typeface="Trebuchet MS"/>
                <a:cs typeface="Trebuchet MS"/>
                <a:sym typeface="Trebuchet MS"/>
              </a:rPr>
              <a:t>• Regresión Lineal: R² = 0.9996, MAE = 0.011 — predicción casi perfecta del promedio.</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ROC-AUC: 0.989 (Logística) y 0.979 (Árbol) — alta discriminación entre clases.</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400" u="none" cap="none" strike="noStrike">
                <a:solidFill>
                  <a:srgbClr val="000000"/>
                </a:solidFill>
                <a:latin typeface="Arial"/>
                <a:ea typeface="Arial"/>
                <a:cs typeface="Arial"/>
                <a:sym typeface="Arial"/>
              </a:rPr>
              <a:t>Sobre las variables predictoras:</a:t>
            </a:r>
            <a:endParaRPr b="1" i="0" sz="1800" u="none" cap="none" strike="noStrike">
              <a:solidFill>
                <a:srgbClr val="242B5A"/>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1" i="0" lang="es-MX" sz="1800" u="none" cap="none" strike="noStrike">
                <a:solidFill>
                  <a:srgbClr val="242B5A"/>
                </a:solidFill>
                <a:latin typeface="Trebuchet MS"/>
                <a:ea typeface="Trebuchet MS"/>
                <a:cs typeface="Trebuchet MS"/>
                <a:sym typeface="Trebuchet MS"/>
              </a:rPr>
              <a:t>• materias_perdidas, promedio_nota y nota_minima son los factores más determinantes.</a:t>
            </a:r>
            <a:endParaRPr b="1" i="0" sz="1800" u="none" cap="none" strike="noStrike">
              <a:solidFill>
                <a:srgbClr val="242B5A"/>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modelo captura correctamente los criterios del SIEE colombiano.</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COVID-19: aumento de inversión en salud, pero con distribución inequitativa.</a:t>
            </a:r>
            <a:endParaRPr b="0" i="0" sz="17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rebuchet MS"/>
              <a:ea typeface="Trebuchet MS"/>
              <a:cs typeface="Trebuchet MS"/>
              <a:sym typeface="Trebuchet MS"/>
            </a:endParaRPr>
          </a:p>
        </p:txBody>
      </p:sp>
      <p:pic>
        <p:nvPicPr>
          <p:cNvPr id="168" name="Google Shape;168;p12"/>
          <p:cNvPicPr preferRelativeResize="0"/>
          <p:nvPr/>
        </p:nvPicPr>
        <p:blipFill rotWithShape="1">
          <a:blip r:embed="rId4">
            <a:alphaModFix/>
          </a:blip>
          <a:srcRect b="0" l="0" r="0" t="0"/>
          <a:stretch/>
        </p:blipFill>
        <p:spPr>
          <a:xfrm>
            <a:off x="1483250" y="2380550"/>
            <a:ext cx="2282900" cy="228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A screenshot of a computer&#10;&#10;Description automatically generated" id="173" name="Google Shape;173;g377293ec702_1_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g377293ec702_1_10"/>
          <p:cNvSpPr txBox="1"/>
          <p:nvPr/>
        </p:nvSpPr>
        <p:spPr>
          <a:xfrm>
            <a:off x="4405590" y="675023"/>
            <a:ext cx="2693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Conclusiones</a:t>
            </a:r>
            <a:endParaRPr b="1" i="0" sz="3600" u="none" cap="none" strike="noStrike">
              <a:solidFill>
                <a:srgbClr val="242B5A"/>
              </a:solidFill>
              <a:latin typeface="Calibri"/>
              <a:ea typeface="Calibri"/>
              <a:cs typeface="Calibri"/>
              <a:sym typeface="Calibri"/>
            </a:endParaRPr>
          </a:p>
        </p:txBody>
      </p:sp>
      <p:sp>
        <p:nvSpPr>
          <p:cNvPr id="175" name="Google Shape;175;g377293ec702_1_10"/>
          <p:cNvSpPr txBox="1"/>
          <p:nvPr/>
        </p:nvSpPr>
        <p:spPr>
          <a:xfrm>
            <a:off x="1393075" y="1667125"/>
            <a:ext cx="6534000" cy="375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MX" sz="1800" u="none" cap="none" strike="noStrike">
                <a:solidFill>
                  <a:schemeClr val="dk1"/>
                </a:solidFill>
                <a:latin typeface="Trebuchet MS"/>
                <a:ea typeface="Trebuchet MS"/>
                <a:cs typeface="Trebuchet MS"/>
                <a:sym typeface="Trebuchet MS"/>
              </a:rPr>
              <a:t>Sobre la detección de riesgo:</a:t>
            </a:r>
            <a:endParaRPr b="1" i="0" sz="18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Recall = 97.60%: el sistema detecta al 97.6% de los estudiantes que efectivamente reprobarán.</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Precision = 98.22%: mínimos falsos positivos, preservando la credibilidad del sistema.</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Árbol de Decisión genera reglas interpretables directamente por los docentes.</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Sobre el ciclo de vida del proyecto:</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700" u="none" cap="none" strike="noStrike">
                <a:solidFill>
                  <a:schemeClr val="dk1"/>
                </a:solidFill>
                <a:latin typeface="Trebuchet MS"/>
                <a:ea typeface="Trebuchet MS"/>
                <a:cs typeface="Trebuchet MS"/>
                <a:sym typeface="Trebuchet MS"/>
              </a:rPr>
              <a:t>• El proyecto cubre las 7 fases CRISP-ML: Negocio → ETL → EDA → Modelado → Evaluación → Despliegue → Monitoreo.</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rPr b="0" i="0" lang="es-MX" sz="1400" u="none" cap="none" strike="noStrike">
                <a:solidFill>
                  <a:srgbClr val="000000"/>
                </a:solidFill>
                <a:latin typeface="Arial"/>
                <a:ea typeface="Arial"/>
                <a:cs typeface="Arial"/>
                <a:sym typeface="Arial"/>
              </a:rPr>
              <a:t>• Arquitectura reproducible y escalable a otras instituciones educativas colombianas.</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800"/>
              </a:spcBef>
              <a:spcAft>
                <a:spcPts val="0"/>
              </a:spcAft>
              <a:buClr>
                <a:srgbClr val="000000"/>
              </a:buClr>
              <a:buSzPts val="1100"/>
              <a:buFont typeface="Arial"/>
              <a:buNone/>
            </a:pPr>
            <a:r>
              <a:t/>
            </a:r>
            <a:endParaRPr b="0" i="0" sz="17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Trebuchet MS"/>
              <a:ea typeface="Trebuchet MS"/>
              <a:cs typeface="Trebuchet MS"/>
              <a:sym typeface="Trebuchet MS"/>
            </a:endParaRPr>
          </a:p>
        </p:txBody>
      </p:sp>
      <p:pic>
        <p:nvPicPr>
          <p:cNvPr id="176" name="Google Shape;176;g377293ec702_1_10"/>
          <p:cNvPicPr preferRelativeResize="0"/>
          <p:nvPr/>
        </p:nvPicPr>
        <p:blipFill rotWithShape="1">
          <a:blip r:embed="rId4">
            <a:alphaModFix/>
          </a:blip>
          <a:srcRect b="0" l="0" r="0" t="0"/>
          <a:stretch/>
        </p:blipFill>
        <p:spPr>
          <a:xfrm>
            <a:off x="8626775" y="1856725"/>
            <a:ext cx="2282900" cy="228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screenshot of a computer&#10;&#10;Description automatically generated" id="181" name="Google Shape;181;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13"/>
          <p:cNvSpPr txBox="1"/>
          <p:nvPr/>
        </p:nvSpPr>
        <p:spPr>
          <a:xfrm>
            <a:off x="2531165" y="1046923"/>
            <a:ext cx="366382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Recomendaciones</a:t>
            </a:r>
            <a:endParaRPr b="1" i="0" sz="3600" u="none" cap="none" strike="noStrike">
              <a:solidFill>
                <a:srgbClr val="242B5A"/>
              </a:solidFill>
              <a:latin typeface="Calibri"/>
              <a:ea typeface="Calibri"/>
              <a:cs typeface="Calibri"/>
              <a:sym typeface="Calibri"/>
            </a:endParaRPr>
          </a:p>
        </p:txBody>
      </p:sp>
      <p:sp>
        <p:nvSpPr>
          <p:cNvPr id="183" name="Google Shape;183;p13"/>
          <p:cNvSpPr txBox="1"/>
          <p:nvPr/>
        </p:nvSpPr>
        <p:spPr>
          <a:xfrm>
            <a:off x="4286250" y="1966800"/>
            <a:ext cx="7412100" cy="35760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Implementar re-entrenamiento anual del modelo con los datos de cada nuevo año lectivo.</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Enriquecer el modelo con variables socioeconómicas del estudiante (estrato, acceso a internet, tipo de familia).</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Explorar modelos más avanzados: Random Forest, XGBoost y Redes Neuronales para capturar patrones complejos.</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Establecer un protocolo institucional de uso: quién accede a las predicciones, cómo se comunican las alertas y cómo se mide el impacto de las intervenciones.</a:t>
            </a:r>
            <a:endParaRPr b="0" i="0" sz="1700" u="none" cap="none" strike="noStrike">
              <a:solidFill>
                <a:srgbClr val="000000"/>
              </a:solidFill>
              <a:latin typeface="Trebuchet MS"/>
              <a:ea typeface="Trebuchet MS"/>
              <a:cs typeface="Trebuchet MS"/>
              <a:sym typeface="Trebuchet MS"/>
            </a:endParaRPr>
          </a:p>
          <a:p>
            <a:pPr indent="-336550" lvl="0" marL="457200" marR="0" rtl="0" algn="l">
              <a:lnSpc>
                <a:spcPct val="100000"/>
              </a:lnSpc>
              <a:spcBef>
                <a:spcPts val="1000"/>
              </a:spcBef>
              <a:spcAft>
                <a:spcPts val="0"/>
              </a:spcAft>
              <a:buClr>
                <a:srgbClr val="000000"/>
              </a:buClr>
              <a:buSzPts val="1700"/>
              <a:buFont typeface="Trebuchet MS"/>
              <a:buChar char="●"/>
            </a:pPr>
            <a:r>
              <a:rPr b="0" i="0" lang="es-MX" sz="1700" u="none" cap="none" strike="noStrike">
                <a:solidFill>
                  <a:srgbClr val="000000"/>
                </a:solidFill>
                <a:latin typeface="Trebuchet MS"/>
                <a:ea typeface="Trebuchet MS"/>
                <a:cs typeface="Trebuchet MS"/>
                <a:sym typeface="Trebuchet MS"/>
              </a:rPr>
              <a:t>Documentar todas las etapas del proceso para garantizar transparencia, trazabilidad y replicabilidad en otras instituciones.</a:t>
            </a:r>
            <a:endParaRPr b="0" i="0" sz="1700" u="none" cap="none" strike="noStrike">
              <a:solidFill>
                <a:srgbClr val="000000"/>
              </a:solidFill>
              <a:latin typeface="Trebuchet MS"/>
              <a:ea typeface="Trebuchet MS"/>
              <a:cs typeface="Trebuchet MS"/>
              <a:sym typeface="Trebuchet MS"/>
            </a:endParaRPr>
          </a:p>
        </p:txBody>
      </p:sp>
      <p:pic>
        <p:nvPicPr>
          <p:cNvPr id="184" name="Google Shape;184;p13"/>
          <p:cNvPicPr preferRelativeResize="0"/>
          <p:nvPr/>
        </p:nvPicPr>
        <p:blipFill rotWithShape="1">
          <a:blip r:embed="rId4">
            <a:alphaModFix/>
          </a:blip>
          <a:srcRect b="0" l="0" r="0" t="0"/>
          <a:stretch/>
        </p:blipFill>
        <p:spPr>
          <a:xfrm>
            <a:off x="1388550" y="2196000"/>
            <a:ext cx="2466000" cy="2466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A screenshot of a computer&#10;&#10;Description automatically generated" id="189" name="Google Shape;18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0" name="Google Shape;190;p14"/>
          <p:cNvSpPr txBox="1"/>
          <p:nvPr/>
        </p:nvSpPr>
        <p:spPr>
          <a:xfrm>
            <a:off x="1923918" y="1486675"/>
            <a:ext cx="89652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3600" u="none" cap="none" strike="noStrike">
                <a:solidFill>
                  <a:srgbClr val="242B5A"/>
                </a:solidFill>
                <a:latin typeface="Calibri"/>
                <a:ea typeface="Calibri"/>
                <a:cs typeface="Calibri"/>
                <a:sym typeface="Calibri"/>
              </a:rPr>
              <a:t>Enlace al Notebook en Google Colab:</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242B5A"/>
              </a:solidFill>
              <a:latin typeface="Calibri"/>
              <a:ea typeface="Calibri"/>
              <a:cs typeface="Calibri"/>
              <a:sym typeface="Calibri"/>
            </a:endParaRPr>
          </a:p>
        </p:txBody>
      </p:sp>
      <p:sp>
        <p:nvSpPr>
          <p:cNvPr id="191" name="Google Shape;191;p14"/>
          <p:cNvSpPr txBox="1"/>
          <p:nvPr/>
        </p:nvSpPr>
        <p:spPr>
          <a:xfrm>
            <a:off x="2247225" y="2310075"/>
            <a:ext cx="855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sng" cap="none" strike="noStrike">
                <a:solidFill>
                  <a:schemeClr val="hlink"/>
                </a:solidFill>
                <a:latin typeface="Trebuchet MS"/>
                <a:ea typeface="Trebuchet MS"/>
                <a:cs typeface="Trebuchet MS"/>
                <a:sym typeface="Trebuchet MS"/>
                <a:hlinkClick r:id="rId4"/>
              </a:rPr>
              <a:t>Enlace al Notebook en Google Colab:</a:t>
            </a:r>
            <a:endParaRPr b="0" i="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A screenshot of a computer&#10;&#10;Description automatically generated" id="196" name="Google Shape;196;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15"/>
          <p:cNvSpPr txBox="1"/>
          <p:nvPr/>
        </p:nvSpPr>
        <p:spPr>
          <a:xfrm>
            <a:off x="3222870" y="4203245"/>
            <a:ext cx="603780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1" i="0" lang="es-MX" sz="7200" u="none" cap="none" strike="noStrike">
                <a:solidFill>
                  <a:srgbClr val="242B5A"/>
                </a:solidFill>
                <a:latin typeface="Calibri"/>
                <a:ea typeface="Calibri"/>
                <a:cs typeface="Calibri"/>
                <a:sym typeface="Calibri"/>
              </a:rPr>
              <a:t>Muchas gracias</a:t>
            </a:r>
            <a:endParaRPr b="1" i="0" sz="7200" u="none" cap="none" strike="noStrike">
              <a:solidFill>
                <a:srgbClr val="242B5A"/>
              </a:solidFill>
              <a:latin typeface="Calibri"/>
              <a:ea typeface="Calibri"/>
              <a:cs typeface="Calibri"/>
              <a:sym typeface="Calibri"/>
            </a:endParaRPr>
          </a:p>
        </p:txBody>
      </p:sp>
      <p:pic>
        <p:nvPicPr>
          <p:cNvPr descr="El análisis de datos como una solución de negocios IoT - CIC" id="198" name="Google Shape;198;p15"/>
          <p:cNvPicPr preferRelativeResize="0"/>
          <p:nvPr/>
        </p:nvPicPr>
        <p:blipFill rotWithShape="1">
          <a:blip r:embed="rId4">
            <a:alphaModFix/>
          </a:blip>
          <a:srcRect b="0" l="0" r="0" t="0"/>
          <a:stretch/>
        </p:blipFill>
        <p:spPr>
          <a:xfrm>
            <a:off x="3804320" y="244048"/>
            <a:ext cx="5087889" cy="41910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LINDO LINDO">
      <a:dk1>
        <a:srgbClr val="000000"/>
      </a:dk1>
      <a:lt1>
        <a:srgbClr val="FFFFFF"/>
      </a:lt1>
      <a:dk2>
        <a:srgbClr val="142F50"/>
      </a:dk2>
      <a:lt2>
        <a:srgbClr val="F9F8F3"/>
      </a:lt2>
      <a:accent1>
        <a:srgbClr val="38A4D4"/>
      </a:accent1>
      <a:accent2>
        <a:srgbClr val="F6F25C"/>
      </a:accent2>
      <a:accent3>
        <a:srgbClr val="FCA810"/>
      </a:accent3>
      <a:accent4>
        <a:srgbClr val="EF255F"/>
      </a:accent4>
      <a:accent5>
        <a:srgbClr val="22B183"/>
      </a:accent5>
      <a:accent6>
        <a:srgbClr val="8C54B6"/>
      </a:accent6>
      <a:hlink>
        <a:srgbClr val="39BCD2"/>
      </a:hlink>
      <a:folHlink>
        <a:srgbClr val="8963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2024-01-29T20:34:43Z</dcterms:created>
  <dc:creator>Ana Maria Salazar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D82F9886-3FD5-42EB-B509-1BFBAE8A1A25</vt:lpwstr>
  </property>
  <property fmtid="{D5CDD505-2E9C-101B-9397-08002B2CF9AE}" pid="3" name="ArticulatePath">
    <vt:lpwstr>Semana1_Videoclase_empaquesyembalajes_V3_David</vt:lpwstr>
  </property>
</Properties>
</file>